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96" r:id="rId4"/>
    <p:sldId id="258" r:id="rId5"/>
    <p:sldId id="292" r:id="rId6"/>
    <p:sldId id="293" r:id="rId7"/>
    <p:sldId id="294" r:id="rId8"/>
    <p:sldId id="295" r:id="rId9"/>
    <p:sldId id="297" r:id="rId10"/>
    <p:sldId id="303" r:id="rId11"/>
    <p:sldId id="306" r:id="rId12"/>
    <p:sldId id="307" r:id="rId13"/>
    <p:sldId id="313" r:id="rId14"/>
    <p:sldId id="304" r:id="rId15"/>
    <p:sldId id="305" r:id="rId16"/>
    <p:sldId id="259" r:id="rId17"/>
    <p:sldId id="298" r:id="rId18"/>
    <p:sldId id="299" r:id="rId19"/>
    <p:sldId id="300" r:id="rId20"/>
    <p:sldId id="301" r:id="rId21"/>
    <p:sldId id="302" r:id="rId22"/>
    <p:sldId id="308" r:id="rId23"/>
    <p:sldId id="309" r:id="rId24"/>
    <p:sldId id="260" r:id="rId25"/>
    <p:sldId id="310" r:id="rId26"/>
    <p:sldId id="312" r:id="rId27"/>
    <p:sldId id="314" r:id="rId28"/>
  </p:sldIdLst>
  <p:sldSz cx="18288000" cy="10287000"/>
  <p:notesSz cx="6858000" cy="9144000"/>
  <p:embeddedFontLst>
    <p:embeddedFont>
      <p:font typeface="Cabin Bold" pitchFamily="2" charset="77"/>
      <p:regular r:id="rId29"/>
      <p:bold r:id="rId30"/>
    </p:embeddedFon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Montaser Arabic Bold" pitchFamily="2" charset="-78"/>
      <p:regular r:id="rId35"/>
      <p:bold r:id="rId36"/>
    </p:embeddedFont>
    <p:embeddedFont>
      <p:font typeface="Montaser Arabic Semi-Bold" pitchFamily="2" charset="-78"/>
      <p:regular r:id="rId37"/>
      <p:bold r:id="rId38"/>
    </p:embeddedFont>
    <p:embeddedFont>
      <p:font typeface="Montserrat Heavy" pitchFamily="2" charset="77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Env setup" id="{2B32CD57-EEEB-DC49-81ED-06D99FE9C594}">
          <p14:sldIdLst>
            <p14:sldId id="256"/>
            <p14:sldId id="257"/>
            <p14:sldId id="296"/>
            <p14:sldId id="258"/>
            <p14:sldId id="292"/>
            <p14:sldId id="293"/>
            <p14:sldId id="294"/>
            <p14:sldId id="295"/>
            <p14:sldId id="297"/>
            <p14:sldId id="303"/>
            <p14:sldId id="306"/>
            <p14:sldId id="307"/>
            <p14:sldId id="313"/>
          </p14:sldIdLst>
        </p14:section>
        <p14:section name="3. Implementing" id="{64E8CD13-5441-484A-B1CC-AE19AEB4304F}">
          <p14:sldIdLst>
            <p14:sldId id="304"/>
            <p14:sldId id="305"/>
            <p14:sldId id="259"/>
            <p14:sldId id="298"/>
            <p14:sldId id="299"/>
            <p14:sldId id="300"/>
            <p14:sldId id="301"/>
            <p14:sldId id="302"/>
            <p14:sldId id="308"/>
            <p14:sldId id="309"/>
            <p14:sldId id="260"/>
            <p14:sldId id="310"/>
            <p14:sldId id="312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F45"/>
    <a:srgbClr val="162B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 autoAdjust="0"/>
    <p:restoredTop sz="94640" autoAdjust="0"/>
  </p:normalViewPr>
  <p:slideViewPr>
    <p:cSldViewPr>
      <p:cViewPr>
        <p:scale>
          <a:sx n="119" d="100"/>
          <a:sy n="119" d="100"/>
        </p:scale>
        <p:origin x="1120" y="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3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7665099"/>
            <a:ext cx="18288000" cy="2621901"/>
            <a:chOff x="0" y="0"/>
            <a:chExt cx="4816593" cy="6905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90542"/>
            </a:xfrm>
            <a:custGeom>
              <a:avLst/>
              <a:gdLst/>
              <a:ahLst/>
              <a:cxnLst/>
              <a:rect l="l" t="t" r="r" b="b"/>
              <a:pathLst>
                <a:path w="4816592" h="690542">
                  <a:moveTo>
                    <a:pt x="0" y="0"/>
                  </a:moveTo>
                  <a:lnTo>
                    <a:pt x="4816592" y="0"/>
                  </a:lnTo>
                  <a:lnTo>
                    <a:pt x="4816592" y="690542"/>
                  </a:lnTo>
                  <a:lnTo>
                    <a:pt x="0" y="690542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728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9589524"/>
            <a:ext cx="232622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dirty="0" err="1">
                <a:solidFill>
                  <a:srgbClr val="FFFFFF"/>
                </a:solidFill>
                <a:latin typeface="Montaser Arabic Semi-Bold"/>
              </a:rPr>
              <a:t>Nhat</a:t>
            </a:r>
            <a:r>
              <a:rPr lang="en-US" sz="2000" dirty="0">
                <a:solidFill>
                  <a:srgbClr val="FFFFFF"/>
                </a:solidFill>
                <a:latin typeface="Montaser Arabic Semi-Bold"/>
              </a:rPr>
              <a:t> Nguyen Anh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32752" y="3768117"/>
            <a:ext cx="3320749" cy="614131"/>
            <a:chOff x="0" y="-114300"/>
            <a:chExt cx="4427665" cy="81884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14300"/>
              <a:ext cx="4427665" cy="742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800"/>
                </a:lnSpc>
              </a:pPr>
              <a:r>
                <a:rPr lang="en-US" sz="3000" dirty="0">
                  <a:solidFill>
                    <a:srgbClr val="162C54"/>
                  </a:solidFill>
                  <a:latin typeface="Montaser Arabic Bold"/>
                </a:rPr>
                <a:t>Building ETL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0" y="639317"/>
              <a:ext cx="4427665" cy="65224"/>
              <a:chOff x="0" y="0"/>
              <a:chExt cx="874600" cy="1288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74600" cy="12884"/>
              </a:xfrm>
              <a:custGeom>
                <a:avLst/>
                <a:gdLst/>
                <a:ahLst/>
                <a:cxnLst/>
                <a:rect l="l" t="t" r="r" b="b"/>
                <a:pathLst>
                  <a:path w="874600" h="12884">
                    <a:moveTo>
                      <a:pt x="0" y="0"/>
                    </a:moveTo>
                    <a:lnTo>
                      <a:pt x="874600" y="0"/>
                    </a:lnTo>
                    <a:lnTo>
                      <a:pt x="874600" y="12884"/>
                    </a:lnTo>
                    <a:lnTo>
                      <a:pt x="0" y="12884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874600" cy="509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13182600" y="9442818"/>
            <a:ext cx="5489224" cy="42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000" dirty="0">
                <a:solidFill>
                  <a:srgbClr val="FFFFFF"/>
                </a:solidFill>
                <a:latin typeface="Montaser Arabic Semi-Bold"/>
              </a:rPr>
              <a:t>Mannheim, Germany 06.04.2024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32752" y="4565816"/>
            <a:ext cx="12722735" cy="92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00"/>
              </a:lnSpc>
            </a:pPr>
            <a:r>
              <a:rPr lang="en-US" sz="5000" dirty="0">
                <a:solidFill>
                  <a:srgbClr val="162C54"/>
                </a:solidFill>
                <a:latin typeface="Montaser Arabic Bold"/>
              </a:rPr>
              <a:t>With PostgreSQL and DBT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33800" y="3641228"/>
            <a:ext cx="2297005" cy="67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60"/>
              </a:lnSpc>
            </a:pPr>
            <a:r>
              <a:rPr lang="en-US" sz="3600" dirty="0">
                <a:solidFill>
                  <a:srgbClr val="E96F45"/>
                </a:solidFill>
                <a:latin typeface="Montaser Arabic Bold"/>
              </a:rPr>
              <a:t>pipeline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41083" y="1121306"/>
            <a:ext cx="5489224" cy="44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2399" dirty="0">
                <a:solidFill>
                  <a:srgbClr val="E96F45"/>
                </a:solidFill>
                <a:latin typeface="Montaser Arabic Bold"/>
              </a:rPr>
              <a:t>Data Engineer Working Student</a:t>
            </a:r>
          </a:p>
        </p:txBody>
      </p:sp>
      <p:pic>
        <p:nvPicPr>
          <p:cNvPr id="1026" name="Picture 2" descr="Paretos | Intel Ignite">
            <a:extLst>
              <a:ext uri="{FF2B5EF4-FFF2-40B4-BE49-F238E27FC236}">
                <a16:creationId xmlns:a16="http://schemas.microsoft.com/office/drawing/2014/main" id="{3904A78F-B51D-DF35-7E7E-169248734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52" y="1209738"/>
            <a:ext cx="2222168" cy="38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9FB9D742-2D37-B8FA-BC3D-49F076C2B8EA}"/>
              </a:ext>
            </a:extLst>
          </p:cNvPr>
          <p:cNvSpPr/>
          <p:nvPr/>
        </p:nvSpPr>
        <p:spPr>
          <a:xfrm>
            <a:off x="1392499" y="7775975"/>
            <a:ext cx="1702674" cy="1702674"/>
          </a:xfrm>
          <a:prstGeom prst="ellipse">
            <a:avLst/>
          </a:prstGeom>
          <a:blipFill>
            <a:blip r:embed="rId3"/>
            <a:stretch>
              <a:fillRect l="-31931" t="-80600" r="-36025" b="-43341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9E46DBD7-9B2B-51E8-659D-742ECB72FA7C}"/>
              </a:ext>
            </a:extLst>
          </p:cNvPr>
          <p:cNvSpPr txBox="1"/>
          <p:nvPr/>
        </p:nvSpPr>
        <p:spPr>
          <a:xfrm>
            <a:off x="3200400" y="8072236"/>
            <a:ext cx="6172200" cy="1390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Montaser Arabic Semi-Bold"/>
              </a:rPr>
              <a:t>Master Data Science at University of Mannheim</a:t>
            </a:r>
          </a:p>
          <a:p>
            <a:pPr marL="285750" indent="-285750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Montaser Arabic Semi-Bold"/>
              </a:rPr>
              <a:t>Experienced with Azure Databricks, SQL Server, </a:t>
            </a:r>
            <a:r>
              <a:rPr lang="en-US" sz="1600" dirty="0" err="1">
                <a:solidFill>
                  <a:srgbClr val="FFFFFF"/>
                </a:solidFill>
                <a:latin typeface="Montaser Arabic Semi-Bold"/>
              </a:rPr>
              <a:t>PySpark</a:t>
            </a:r>
            <a:endParaRPr lang="en-US" sz="1600" dirty="0">
              <a:solidFill>
                <a:srgbClr val="FFFFFF"/>
              </a:solidFill>
              <a:latin typeface="Montaser Arabic Semi-Bold"/>
            </a:endParaRPr>
          </a:p>
          <a:p>
            <a:pPr marL="285750" indent="-285750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Montaser Arabic Semi-Bold"/>
              </a:rPr>
              <a:t>Database Design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1353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56412"/>
            <a:ext cx="18288000" cy="756087"/>
            <a:chOff x="0" y="-266863"/>
            <a:chExt cx="24384000" cy="100811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619574"/>
              <a:ext cx="6096000" cy="121677"/>
              <a:chOff x="0" y="0"/>
              <a:chExt cx="1204148" cy="2403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71600" y="-266863"/>
              <a:ext cx="5932469" cy="9221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6399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Environment Setup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AC34CA-60A2-1768-8D0C-E7D8947A2CE9}"/>
              </a:ext>
            </a:extLst>
          </p:cNvPr>
          <p:cNvGrpSpPr/>
          <p:nvPr/>
        </p:nvGrpSpPr>
        <p:grpSpPr>
          <a:xfrm>
            <a:off x="9957440" y="3903812"/>
            <a:ext cx="4872448" cy="2686077"/>
            <a:chOff x="2057400" y="3214469"/>
            <a:chExt cx="4872448" cy="2686077"/>
          </a:xfrm>
        </p:grpSpPr>
        <p:sp>
          <p:nvSpPr>
            <p:cNvPr id="11" name="TextBox 11"/>
            <p:cNvSpPr txBox="1"/>
            <p:nvPr/>
          </p:nvSpPr>
          <p:spPr>
            <a:xfrm>
              <a:off x="3150688" y="5451003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Data Warehouse</a:t>
              </a:r>
            </a:p>
          </p:txBody>
        </p:sp>
        <p:pic>
          <p:nvPicPr>
            <p:cNvPr id="2050" name="Picture 2" descr="Getting Started With PostgreSQL. There are numerous different types of… |  by Alex Mitrani | Medium">
              <a:extLst>
                <a:ext uri="{FF2B5EF4-FFF2-40B4-BE49-F238E27FC236}">
                  <a16:creationId xmlns:a16="http://schemas.microsoft.com/office/drawing/2014/main" id="{850473D1-6FBF-FD7E-0E22-551C5770D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14469"/>
              <a:ext cx="4872448" cy="2236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F9E6BB-B869-DC3B-7D4F-75C577AEDB94}"/>
              </a:ext>
            </a:extLst>
          </p:cNvPr>
          <p:cNvGrpSpPr/>
          <p:nvPr/>
        </p:nvGrpSpPr>
        <p:grpSpPr>
          <a:xfrm>
            <a:off x="2297654" y="3597655"/>
            <a:ext cx="5105400" cy="3002243"/>
            <a:chOff x="10031912" y="2898303"/>
            <a:chExt cx="5105400" cy="3002243"/>
          </a:xfrm>
        </p:grpSpPr>
        <p:pic>
          <p:nvPicPr>
            <p:cNvPr id="2052" name="Picture 4" descr="Moderne Data Pipelines mit dem data build tool (dbt) – Teil 1: Einführung">
              <a:extLst>
                <a:ext uri="{FF2B5EF4-FFF2-40B4-BE49-F238E27FC236}">
                  <a16:creationId xmlns:a16="http://schemas.microsoft.com/office/drawing/2014/main" id="{ACA394DF-3DC4-B498-AF72-B9727878F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31912" y="2898303"/>
              <a:ext cx="5105400" cy="2552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448F26C3-46B5-5754-FFFC-EE0E078289A3}"/>
                </a:ext>
              </a:extLst>
            </p:cNvPr>
            <p:cNvSpPr txBox="1"/>
            <p:nvPr/>
          </p:nvSpPr>
          <p:spPr>
            <a:xfrm>
              <a:off x="11163300" y="5451003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Integration Tool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56412"/>
            <a:ext cx="18288000" cy="756087"/>
            <a:chOff x="0" y="-266863"/>
            <a:chExt cx="24384000" cy="100811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619574"/>
              <a:ext cx="6096000" cy="121677"/>
              <a:chOff x="0" y="0"/>
              <a:chExt cx="1204148" cy="2403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71600" y="-266863"/>
              <a:ext cx="5932469" cy="9221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6399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Environment Setup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AC34CA-60A2-1768-8D0C-E7D8947A2CE9}"/>
              </a:ext>
            </a:extLst>
          </p:cNvPr>
          <p:cNvGrpSpPr/>
          <p:nvPr/>
        </p:nvGrpSpPr>
        <p:grpSpPr>
          <a:xfrm>
            <a:off x="6757040" y="3903812"/>
            <a:ext cx="4872448" cy="2686077"/>
            <a:chOff x="2057400" y="3214469"/>
            <a:chExt cx="4872448" cy="2686077"/>
          </a:xfrm>
        </p:grpSpPr>
        <p:sp>
          <p:nvSpPr>
            <p:cNvPr id="11" name="TextBox 11"/>
            <p:cNvSpPr txBox="1"/>
            <p:nvPr/>
          </p:nvSpPr>
          <p:spPr>
            <a:xfrm>
              <a:off x="3150688" y="5451003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Data Warehouse</a:t>
              </a:r>
            </a:p>
          </p:txBody>
        </p:sp>
        <p:pic>
          <p:nvPicPr>
            <p:cNvPr id="2050" name="Picture 2" descr="Getting Started With PostgreSQL. There are numerous different types of… |  by Alex Mitrani | Medium">
              <a:extLst>
                <a:ext uri="{FF2B5EF4-FFF2-40B4-BE49-F238E27FC236}">
                  <a16:creationId xmlns:a16="http://schemas.microsoft.com/office/drawing/2014/main" id="{850473D1-6FBF-FD7E-0E22-551C5770D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14469"/>
              <a:ext cx="4872448" cy="2236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Moderne Data Pipelines mit dem data build tool (dbt) – Teil 1: Einführung">
            <a:extLst>
              <a:ext uri="{FF2B5EF4-FFF2-40B4-BE49-F238E27FC236}">
                <a16:creationId xmlns:a16="http://schemas.microsoft.com/office/drawing/2014/main" id="{ACA394DF-3DC4-B498-AF72-B9727878F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486" y="4298871"/>
            <a:ext cx="2107113" cy="105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3CF77E-B00A-AC6B-01C5-7CFBE3937D3D}"/>
              </a:ext>
            </a:extLst>
          </p:cNvPr>
          <p:cNvCxnSpPr>
            <a:cxnSpLocks/>
          </p:cNvCxnSpPr>
          <p:nvPr/>
        </p:nvCxnSpPr>
        <p:spPr>
          <a:xfrm>
            <a:off x="3200400" y="5219700"/>
            <a:ext cx="2743198" cy="0"/>
          </a:xfrm>
          <a:prstGeom prst="straightConnector1">
            <a:avLst/>
          </a:prstGeom>
          <a:ln w="508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DC9AF9C2-CB6D-4632-B0D4-6A0A9B625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670293"/>
            <a:ext cx="985510" cy="9855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1DEEE3D-7C10-A1ED-4C10-B12D0EF74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623" y="4825649"/>
            <a:ext cx="985510" cy="98551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5390FBC-7734-BAB4-86E8-2A82F8B70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623" y="5993462"/>
            <a:ext cx="985510" cy="98551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0FB8BE88-E8C0-6F8F-2E27-FF02A2EC3529}"/>
              </a:ext>
            </a:extLst>
          </p:cNvPr>
          <p:cNvGrpSpPr/>
          <p:nvPr/>
        </p:nvGrpSpPr>
        <p:grpSpPr>
          <a:xfrm>
            <a:off x="12735327" y="1604836"/>
            <a:ext cx="4523408" cy="6441625"/>
            <a:chOff x="12573000" y="2894031"/>
            <a:chExt cx="4523408" cy="6441625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8EE9FAF0-2A43-AFA5-1503-0BC26DBA5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015975" y="2894031"/>
              <a:ext cx="1318243" cy="1318243"/>
            </a:xfrm>
            <a:prstGeom prst="rect">
              <a:avLst/>
            </a:prstGeom>
          </p:spPr>
        </p:pic>
        <p:sp>
          <p:nvSpPr>
            <p:cNvPr id="28" name="TextBox 11">
              <a:extLst>
                <a:ext uri="{FF2B5EF4-FFF2-40B4-BE49-F238E27FC236}">
                  <a16:creationId xmlns:a16="http://schemas.microsoft.com/office/drawing/2014/main" id="{F3178B11-F592-3D64-1B93-FBCE63F0DE8E}"/>
                </a:ext>
              </a:extLst>
            </p:cNvPr>
            <p:cNvSpPr txBox="1"/>
            <p:nvPr/>
          </p:nvSpPr>
          <p:spPr>
            <a:xfrm>
              <a:off x="14253784" y="4234775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Reporting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578812F6-207D-93EA-0B3A-F92F3D350226}"/>
                </a:ext>
              </a:extLst>
            </p:cNvPr>
            <p:cNvSpPr txBox="1"/>
            <p:nvPr/>
          </p:nvSpPr>
          <p:spPr>
            <a:xfrm>
              <a:off x="14191499" y="6560444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Model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B04A3A79-9C68-6757-53FA-73E1BA285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978181" y="5237566"/>
              <a:ext cx="1269259" cy="1269259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7C040595-7248-02F0-354E-B6C9D73F3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163800" y="7809929"/>
              <a:ext cx="902653" cy="902653"/>
            </a:xfrm>
            <a:prstGeom prst="rect">
              <a:avLst/>
            </a:prstGeom>
          </p:spPr>
        </p:pic>
        <p:sp>
          <p:nvSpPr>
            <p:cNvPr id="35" name="TextBox 11">
              <a:extLst>
                <a:ext uri="{FF2B5EF4-FFF2-40B4-BE49-F238E27FC236}">
                  <a16:creationId xmlns:a16="http://schemas.microsoft.com/office/drawing/2014/main" id="{A3A75744-9565-3AF5-E255-F8A4FA2BFDC1}"/>
                </a:ext>
              </a:extLst>
            </p:cNvPr>
            <p:cNvSpPr txBox="1"/>
            <p:nvPr/>
          </p:nvSpPr>
          <p:spPr>
            <a:xfrm>
              <a:off x="14097000" y="8886113"/>
              <a:ext cx="2842624" cy="449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User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439BCCB-C653-572F-F5E9-D8A383FE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573000" y="4459546"/>
              <a:ext cx="2133600" cy="0"/>
            </a:xfrm>
            <a:prstGeom prst="straightConnector1">
              <a:avLst/>
            </a:prstGeom>
            <a:ln w="50800">
              <a:solidFill>
                <a:srgbClr val="162B5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EC8B194-69AB-D4D7-C98A-62973D45C0D9}"/>
                </a:ext>
              </a:extLst>
            </p:cNvPr>
            <p:cNvCxnSpPr>
              <a:cxnSpLocks/>
            </p:cNvCxnSpPr>
            <p:nvPr/>
          </p:nvCxnSpPr>
          <p:spPr>
            <a:xfrm>
              <a:off x="12573000" y="6506825"/>
              <a:ext cx="2133600" cy="0"/>
            </a:xfrm>
            <a:prstGeom prst="straightConnector1">
              <a:avLst/>
            </a:prstGeom>
            <a:ln w="50800">
              <a:solidFill>
                <a:srgbClr val="162B5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30AF5FA-E9F3-8C12-3E73-A79FC515CE36}"/>
                </a:ext>
              </a:extLst>
            </p:cNvPr>
            <p:cNvCxnSpPr>
              <a:cxnSpLocks/>
            </p:cNvCxnSpPr>
            <p:nvPr/>
          </p:nvCxnSpPr>
          <p:spPr>
            <a:xfrm>
              <a:off x="12573000" y="8496300"/>
              <a:ext cx="2133600" cy="0"/>
            </a:xfrm>
            <a:prstGeom prst="straightConnector1">
              <a:avLst/>
            </a:prstGeom>
            <a:ln w="50800">
              <a:solidFill>
                <a:srgbClr val="162B5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547DF15-BA35-C0D8-E54E-0D74DE6E3B47}"/>
                </a:ext>
              </a:extLst>
            </p:cNvPr>
            <p:cNvCxnSpPr>
              <a:cxnSpLocks/>
            </p:cNvCxnSpPr>
            <p:nvPr/>
          </p:nvCxnSpPr>
          <p:spPr>
            <a:xfrm>
              <a:off x="12573000" y="4445392"/>
              <a:ext cx="0" cy="4050908"/>
            </a:xfrm>
            <a:prstGeom prst="line">
              <a:avLst/>
            </a:prstGeom>
            <a:ln w="50800">
              <a:solidFill>
                <a:srgbClr val="162B5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6751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56412"/>
            <a:ext cx="18288000" cy="756087"/>
            <a:chOff x="0" y="-266863"/>
            <a:chExt cx="24384000" cy="100811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619574"/>
              <a:ext cx="6096000" cy="121677"/>
              <a:chOff x="0" y="0"/>
              <a:chExt cx="1204148" cy="2403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71600" y="-266863"/>
              <a:ext cx="5932469" cy="9221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6399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Environment Setup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9AC34CA-60A2-1768-8D0C-E7D8947A2CE9}"/>
              </a:ext>
            </a:extLst>
          </p:cNvPr>
          <p:cNvGrpSpPr/>
          <p:nvPr/>
        </p:nvGrpSpPr>
        <p:grpSpPr>
          <a:xfrm>
            <a:off x="906332" y="957159"/>
            <a:ext cx="3276600" cy="1954886"/>
            <a:chOff x="2057400" y="3214469"/>
            <a:chExt cx="4872448" cy="2907001"/>
          </a:xfrm>
        </p:grpSpPr>
        <p:sp>
          <p:nvSpPr>
            <p:cNvPr id="11" name="TextBox 11"/>
            <p:cNvSpPr txBox="1"/>
            <p:nvPr/>
          </p:nvSpPr>
          <p:spPr>
            <a:xfrm>
              <a:off x="2584123" y="5464894"/>
              <a:ext cx="4345725" cy="656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endParaRPr lang="en-US" sz="2400" dirty="0">
                <a:solidFill>
                  <a:srgbClr val="162C54"/>
                </a:solidFill>
                <a:latin typeface="Montaser Arabic Bold"/>
              </a:endParaRPr>
            </a:p>
          </p:txBody>
        </p:sp>
        <p:pic>
          <p:nvPicPr>
            <p:cNvPr id="2050" name="Picture 2" descr="Getting Started With PostgreSQL. There are numerous different types of… |  by Alex Mitrani | Medium">
              <a:extLst>
                <a:ext uri="{FF2B5EF4-FFF2-40B4-BE49-F238E27FC236}">
                  <a16:creationId xmlns:a16="http://schemas.microsoft.com/office/drawing/2014/main" id="{850473D1-6FBF-FD7E-0E22-551C5770D8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14469"/>
              <a:ext cx="4872448" cy="2236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C5F82A7-CE8E-5FD8-534B-201836BBC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10" y="5387144"/>
            <a:ext cx="5101642" cy="2667563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60644562-C88B-748A-4B7C-853FD5D8D32F}"/>
              </a:ext>
            </a:extLst>
          </p:cNvPr>
          <p:cNvSpPr txBox="1"/>
          <p:nvPr/>
        </p:nvSpPr>
        <p:spPr>
          <a:xfrm>
            <a:off x="875852" y="2767388"/>
            <a:ext cx="5181600" cy="1416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Postgre</a:t>
            </a: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 App for Mac (portable)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IDE: </a:t>
            </a: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SQLPro</a:t>
            </a: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 Studio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Database: </a:t>
            </a: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dwh</a:t>
            </a:r>
            <a:endParaRPr lang="en-US" sz="2400" dirty="0">
              <a:solidFill>
                <a:srgbClr val="162C54"/>
              </a:solidFill>
              <a:latin typeface="Montaser Arabic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70C7D7-4104-0E6A-DF5A-838E54399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452" y="4869019"/>
            <a:ext cx="4873042" cy="37038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4F1313-218F-B9BD-18B5-624C42908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0" y="2849765"/>
            <a:ext cx="39243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37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56412"/>
            <a:ext cx="18288000" cy="756087"/>
            <a:chOff x="0" y="-266863"/>
            <a:chExt cx="24384000" cy="100811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619574"/>
              <a:ext cx="6096000" cy="121677"/>
              <a:chOff x="0" y="0"/>
              <a:chExt cx="1204148" cy="2403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71600" y="-266863"/>
              <a:ext cx="5932469" cy="9221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6399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Environment Setup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 dirty="0">
                <a:solidFill>
                  <a:srgbClr val="162C54"/>
                </a:solidFill>
                <a:latin typeface="Montaser Arabic Bold"/>
              </a:rPr>
              <a:t>2</a:t>
            </a:r>
          </a:p>
        </p:txBody>
      </p:sp>
      <p:pic>
        <p:nvPicPr>
          <p:cNvPr id="2052" name="Picture 4" descr="Moderne Data Pipelines mit dem data build tool (dbt) – Teil 1: Einführung">
            <a:extLst>
              <a:ext uri="{FF2B5EF4-FFF2-40B4-BE49-F238E27FC236}">
                <a16:creationId xmlns:a16="http://schemas.microsoft.com/office/drawing/2014/main" id="{ACA394DF-3DC4-B498-AF72-B9727878F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49623"/>
            <a:ext cx="3180398" cy="159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1">
            <a:extLst>
              <a:ext uri="{FF2B5EF4-FFF2-40B4-BE49-F238E27FC236}">
                <a16:creationId xmlns:a16="http://schemas.microsoft.com/office/drawing/2014/main" id="{A2EA39E0-1154-C864-40CB-7071BFA5700E}"/>
              </a:ext>
            </a:extLst>
          </p:cNvPr>
          <p:cNvSpPr txBox="1"/>
          <p:nvPr/>
        </p:nvSpPr>
        <p:spPr>
          <a:xfrm>
            <a:off x="914400" y="2539822"/>
            <a:ext cx="4800600" cy="4827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IDE: Visual Studio Code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Setup python env and activate it</a:t>
            </a:r>
          </a:p>
          <a:p>
            <a:pPr marL="800100" lvl="1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Install </a:t>
            </a: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dbt</a:t>
            </a: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 connector (with </a:t>
            </a: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Postgre</a:t>
            </a: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)</a:t>
            </a:r>
          </a:p>
          <a:p>
            <a:pPr marL="800100" lvl="1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Init </a:t>
            </a:r>
            <a:r>
              <a:rPr lang="en-US" sz="2400" dirty="0" err="1">
                <a:solidFill>
                  <a:srgbClr val="162C54"/>
                </a:solidFill>
                <a:latin typeface="Montaser Arabic Bold"/>
              </a:rPr>
              <a:t>dbt</a:t>
            </a: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 project with metadata and credential</a:t>
            </a:r>
          </a:p>
          <a:p>
            <a:pPr marL="800100" lvl="1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Test the environment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Seeds CSV data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62C54"/>
              </a:solidFill>
              <a:latin typeface="Montaser Arabic Bold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71E0CF-D9A8-FAA0-966F-4B5EAABE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2355"/>
            <a:ext cx="5257800" cy="23606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E5F0FFB-4279-D568-094A-0CD853A7C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201755"/>
            <a:ext cx="5257799" cy="18599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968A9D-EFDC-CD24-F9B7-760708340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428" y="5792652"/>
            <a:ext cx="5257799" cy="19582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7B7F62C-3AEC-579F-3A5B-31C0645EB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7446" y="3207010"/>
            <a:ext cx="5086574" cy="19364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5378C4-C6F0-463E-7847-78C8C4EDEAF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119"/>
          <a:stretch/>
        </p:blipFill>
        <p:spPr>
          <a:xfrm>
            <a:off x="12967446" y="5817157"/>
            <a:ext cx="4545061" cy="18340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7DBBF1-65DF-9771-2D7C-75CFC3EAD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9428" y="8304085"/>
            <a:ext cx="5257799" cy="18599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B87D2B-96FB-C9DF-2D03-34A09D07FBB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2029"/>
          <a:stretch/>
        </p:blipFill>
        <p:spPr>
          <a:xfrm>
            <a:off x="12967446" y="8304085"/>
            <a:ext cx="3491753" cy="187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707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2397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461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096000" y="609526"/>
              <a:ext cx="6096000" cy="121677"/>
              <a:chOff x="0" y="0"/>
              <a:chExt cx="1204148" cy="2403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461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Requirements Analysis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C398AE6F-D7C6-AE52-8E7E-EC246A0E5951}"/>
              </a:ext>
            </a:extLst>
          </p:cNvPr>
          <p:cNvSpPr txBox="1"/>
          <p:nvPr/>
        </p:nvSpPr>
        <p:spPr>
          <a:xfrm>
            <a:off x="6924671" y="6134100"/>
            <a:ext cx="4438653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Simple Data Flow Diagram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344D9F7-2A47-7D1E-004A-A897B888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505819"/>
            <a:ext cx="16916400" cy="344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1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096000" y="609526"/>
              <a:ext cx="6096000" cy="121677"/>
              <a:chOff x="0" y="0"/>
              <a:chExt cx="1204148" cy="2403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461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Requirements Analysis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1F20D37-C73C-5062-41A4-B69C50B0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73" y="2023482"/>
            <a:ext cx="17678400" cy="4830724"/>
          </a:xfrm>
          <a:prstGeom prst="rect">
            <a:avLst/>
          </a:prstGeom>
        </p:spPr>
      </p:pic>
      <p:sp>
        <p:nvSpPr>
          <p:cNvPr id="38" name="TextBox 11">
            <a:extLst>
              <a:ext uri="{FF2B5EF4-FFF2-40B4-BE49-F238E27FC236}">
                <a16:creationId xmlns:a16="http://schemas.microsoft.com/office/drawing/2014/main" id="{C398AE6F-D7C6-AE52-8E7E-EC246A0E5951}"/>
              </a:ext>
            </a:extLst>
          </p:cNvPr>
          <p:cNvSpPr txBox="1"/>
          <p:nvPr/>
        </p:nvSpPr>
        <p:spPr>
          <a:xfrm>
            <a:off x="6924671" y="6134100"/>
            <a:ext cx="4438653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Simple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969203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096000" y="609526"/>
              <a:ext cx="6096000" cy="121677"/>
              <a:chOff x="0" y="0"/>
              <a:chExt cx="1204148" cy="2403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461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Requirements Analysis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C398AE6F-D7C6-AE52-8E7E-EC246A0E5951}"/>
              </a:ext>
            </a:extLst>
          </p:cNvPr>
          <p:cNvSpPr txBox="1"/>
          <p:nvPr/>
        </p:nvSpPr>
        <p:spPr>
          <a:xfrm>
            <a:off x="6924671" y="5829300"/>
            <a:ext cx="4438653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Ordering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D927E3-208F-DA35-8F88-84FFFF99A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12924"/>
            <a:ext cx="17352292" cy="263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6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096000" y="609526"/>
              <a:ext cx="6096000" cy="121677"/>
              <a:chOff x="0" y="0"/>
              <a:chExt cx="1204148" cy="2403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461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Requirements Analysis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BE725808-9EC6-1C95-28DF-807602DB2665}"/>
              </a:ext>
            </a:extLst>
          </p:cNvPr>
          <p:cNvSpPr txBox="1"/>
          <p:nvPr/>
        </p:nvSpPr>
        <p:spPr>
          <a:xfrm>
            <a:off x="609600" y="1076373"/>
            <a:ext cx="6477000" cy="188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Data quality:</a:t>
            </a:r>
          </a:p>
          <a:p>
            <a:pPr algn="just">
              <a:lnSpc>
                <a:spcPts val="3840"/>
              </a:lnSpc>
            </a:pP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An order in the </a:t>
            </a:r>
            <a:r>
              <a:rPr lang="en-US" sz="2000" b="1" dirty="0">
                <a:solidFill>
                  <a:srgbClr val="E96F45"/>
                </a:solidFill>
                <a:latin typeface="Lato" panose="020F0502020204030203" pitchFamily="34" charset="0"/>
                <a:cs typeface="Lato" panose="020F0502020204030203" pitchFamily="34" charset="0"/>
              </a:rPr>
              <a:t>Orders meta 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table has details in the </a:t>
            </a:r>
            <a:r>
              <a:rPr lang="en-US" sz="2000" b="1" dirty="0">
                <a:solidFill>
                  <a:srgbClr val="E96F45"/>
                </a:solidFill>
                <a:latin typeface="Lato" panose="020F0502020204030203" pitchFamily="34" charset="0"/>
                <a:cs typeface="Lato" panose="020F0502020204030203" pitchFamily="34" charset="0"/>
              </a:rPr>
              <a:t>Order line items 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table but does not have a </a:t>
            </a:r>
            <a:r>
              <a:rPr lang="en-US" sz="2000" b="1" dirty="0" err="1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total_price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 -&gt; Assume it is an incomplete or cancelled order.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5C8910-8DD7-7E07-8DBA-51ABE251A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135" y="1010575"/>
            <a:ext cx="10110265" cy="23004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F2E7BD-E6A7-0401-7C3C-1C2927198C46}"/>
              </a:ext>
            </a:extLst>
          </p:cNvPr>
          <p:cNvSpPr txBox="1"/>
          <p:nvPr/>
        </p:nvSpPr>
        <p:spPr>
          <a:xfrm>
            <a:off x="608704" y="3743373"/>
            <a:ext cx="6477000" cy="2374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Data Consistency</a:t>
            </a:r>
          </a:p>
          <a:p>
            <a:pPr marL="342900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Revenue is inconsistent between </a:t>
            </a:r>
            <a:r>
              <a:rPr lang="en-US" sz="2000" b="1" dirty="0">
                <a:solidFill>
                  <a:srgbClr val="E96F45"/>
                </a:solidFill>
                <a:latin typeface="Lato" panose="020F0502020204030203" pitchFamily="34" charset="0"/>
                <a:cs typeface="Lato" panose="020F0502020204030203" pitchFamily="34" charset="0"/>
              </a:rPr>
              <a:t>Orders meta (1) 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table and </a:t>
            </a:r>
            <a:r>
              <a:rPr lang="en-US" sz="2000" b="1" dirty="0">
                <a:solidFill>
                  <a:srgbClr val="E96F45"/>
                </a:solidFill>
                <a:latin typeface="Lato" panose="020F0502020204030203" pitchFamily="34" charset="0"/>
                <a:cs typeface="Lato" panose="020F0502020204030203" pitchFamily="34" charset="0"/>
              </a:rPr>
              <a:t>Order line items (2) 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table</a:t>
            </a:r>
          </a:p>
          <a:p>
            <a:pPr marL="800100" lvl="1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Revenue = SUM(Price)  (1)</a:t>
            </a:r>
          </a:p>
          <a:p>
            <a:pPr marL="800100" lvl="1" indent="-34290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Revenue = SUM(</a:t>
            </a:r>
            <a:r>
              <a:rPr lang="en-US" sz="2000" b="1" dirty="0" err="1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items_price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 * </a:t>
            </a:r>
            <a:r>
              <a:rPr lang="en-US" sz="2000" b="1" dirty="0" err="1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items_quantity</a:t>
            </a:r>
            <a:r>
              <a:rPr lang="en-US" sz="2000" b="1" dirty="0">
                <a:solidFill>
                  <a:srgbClr val="162C54"/>
                </a:solidFill>
                <a:latin typeface="Lato" panose="020F0502020204030203" pitchFamily="34" charset="0"/>
                <a:cs typeface="Lato" panose="020F0502020204030203" pitchFamily="34" charset="0"/>
              </a:rPr>
              <a:t>) (2)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92C71D-8264-522C-932B-D9BCB164A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135" y="3535925"/>
            <a:ext cx="8433865" cy="552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58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314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 dirty="0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6852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51C1A538-5BB2-87D8-EA47-4390285C1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3009900"/>
            <a:ext cx="985510" cy="98551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9679573-5135-784E-0FF7-0BF1168C8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223" y="4165256"/>
            <a:ext cx="985510" cy="98551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BBD5D7A6-ED48-AEA9-8126-2D756E9D3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1223" y="5333069"/>
            <a:ext cx="985510" cy="985510"/>
          </a:xfrm>
          <a:prstGeom prst="rect">
            <a:avLst/>
          </a:prstGeom>
        </p:spPr>
      </p:pic>
      <p:sp>
        <p:nvSpPr>
          <p:cNvPr id="31" name="TextBox 11">
            <a:extLst>
              <a:ext uri="{FF2B5EF4-FFF2-40B4-BE49-F238E27FC236}">
                <a16:creationId xmlns:a16="http://schemas.microsoft.com/office/drawing/2014/main" id="{8540EDF3-B3CD-84B9-3176-F55D85396284}"/>
              </a:ext>
            </a:extLst>
          </p:cNvPr>
          <p:cNvSpPr txBox="1"/>
          <p:nvPr/>
        </p:nvSpPr>
        <p:spPr>
          <a:xfrm>
            <a:off x="1314809" y="2039334"/>
            <a:ext cx="985510" cy="449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Input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C3D7CADE-3263-184F-9D70-8A65EABF970D}"/>
              </a:ext>
            </a:extLst>
          </p:cNvPr>
          <p:cNvSpPr txBox="1"/>
          <p:nvPr/>
        </p:nvSpPr>
        <p:spPr>
          <a:xfrm>
            <a:off x="2514600" y="3390900"/>
            <a:ext cx="3276600" cy="42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Orders meta information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15FFCF46-639C-2731-65A9-8A977DAC78F0}"/>
              </a:ext>
            </a:extLst>
          </p:cNvPr>
          <p:cNvSpPr txBox="1"/>
          <p:nvPr/>
        </p:nvSpPr>
        <p:spPr>
          <a:xfrm>
            <a:off x="2514600" y="4728214"/>
            <a:ext cx="3276600" cy="42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Order line items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E3E9F64B-FEC9-E665-6EE1-053EA053646B}"/>
              </a:ext>
            </a:extLst>
          </p:cNvPr>
          <p:cNvSpPr txBox="1"/>
          <p:nvPr/>
        </p:nvSpPr>
        <p:spPr>
          <a:xfrm>
            <a:off x="2514600" y="5802068"/>
            <a:ext cx="3276600" cy="42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Cost per SKU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4E2138F-A18C-CC65-575F-D9B69D480C46}"/>
              </a:ext>
            </a:extLst>
          </p:cNvPr>
          <p:cNvCxnSpPr>
            <a:cxnSpLocks/>
          </p:cNvCxnSpPr>
          <p:nvPr/>
        </p:nvCxnSpPr>
        <p:spPr>
          <a:xfrm>
            <a:off x="6400802" y="4741213"/>
            <a:ext cx="2743198" cy="0"/>
          </a:xfrm>
          <a:prstGeom prst="straightConnector1">
            <a:avLst/>
          </a:prstGeom>
          <a:ln w="508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11">
            <a:extLst>
              <a:ext uri="{FF2B5EF4-FFF2-40B4-BE49-F238E27FC236}">
                <a16:creationId xmlns:a16="http://schemas.microsoft.com/office/drawing/2014/main" id="{4ED9A547-BFCE-9D4F-EB4A-E0FAB9ABC254}"/>
              </a:ext>
            </a:extLst>
          </p:cNvPr>
          <p:cNvSpPr txBox="1"/>
          <p:nvPr/>
        </p:nvSpPr>
        <p:spPr>
          <a:xfrm>
            <a:off x="10210800" y="2016474"/>
            <a:ext cx="1752600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Output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11BD695-E392-6B20-4FA0-03888181D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1625" y="3126743"/>
            <a:ext cx="985511" cy="985511"/>
          </a:xfrm>
          <a:prstGeom prst="rect">
            <a:avLst/>
          </a:prstGeom>
        </p:spPr>
      </p:pic>
      <p:sp>
        <p:nvSpPr>
          <p:cNvPr id="39" name="TextBox 11">
            <a:extLst>
              <a:ext uri="{FF2B5EF4-FFF2-40B4-BE49-F238E27FC236}">
                <a16:creationId xmlns:a16="http://schemas.microsoft.com/office/drawing/2014/main" id="{27AEC5AE-2C5A-553D-6965-58389779468C}"/>
              </a:ext>
            </a:extLst>
          </p:cNvPr>
          <p:cNvSpPr txBox="1"/>
          <p:nvPr/>
        </p:nvSpPr>
        <p:spPr>
          <a:xfrm>
            <a:off x="10847136" y="3390900"/>
            <a:ext cx="4469064" cy="42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Aggregation table for daily reporting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120779C4-652A-9FCB-DF3B-CC8C8E3A3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8799" y="4662358"/>
            <a:ext cx="1022425" cy="1022425"/>
          </a:xfrm>
          <a:prstGeom prst="rect">
            <a:avLst/>
          </a:prstGeom>
        </p:spPr>
      </p:pic>
      <p:sp>
        <p:nvSpPr>
          <p:cNvPr id="44" name="TextBox 11">
            <a:extLst>
              <a:ext uri="{FF2B5EF4-FFF2-40B4-BE49-F238E27FC236}">
                <a16:creationId xmlns:a16="http://schemas.microsoft.com/office/drawing/2014/main" id="{867A7D7F-C4E8-D5E8-DA88-569AD97DE3E3}"/>
              </a:ext>
            </a:extLst>
          </p:cNvPr>
          <p:cNvSpPr txBox="1"/>
          <p:nvPr/>
        </p:nvSpPr>
        <p:spPr>
          <a:xfrm>
            <a:off x="11087100" y="4658011"/>
            <a:ext cx="6500466" cy="2859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KPI:</a:t>
            </a:r>
          </a:p>
          <a:p>
            <a:pPr marL="742950" lvl="1" indent="-28575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Margin per day = Revenue - Total cost of SKU in that order</a:t>
            </a:r>
          </a:p>
          <a:p>
            <a:pPr marL="742950" lvl="1" indent="-28575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Total orders per day</a:t>
            </a:r>
          </a:p>
          <a:p>
            <a:pPr marL="285750" indent="-285750" algn="just">
              <a:lnSpc>
                <a:spcPts val="384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62C54"/>
                </a:solidFill>
                <a:latin typeface="Montaser Arabic Bold"/>
              </a:rPr>
              <a:t>Data Quality check (inconsistency)</a:t>
            </a:r>
          </a:p>
          <a:p>
            <a:pPr marL="285750" indent="-285750" algn="just">
              <a:lnSpc>
                <a:spcPts val="384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162C54"/>
              </a:solidFill>
              <a:latin typeface="Montaser Arabic Bold"/>
            </a:endParaRPr>
          </a:p>
        </p:txBody>
      </p:sp>
      <p:grpSp>
        <p:nvGrpSpPr>
          <p:cNvPr id="53" name="Group 2">
            <a:extLst>
              <a:ext uri="{FF2B5EF4-FFF2-40B4-BE49-F238E27FC236}">
                <a16:creationId xmlns:a16="http://schemas.microsoft.com/office/drawing/2014/main" id="{97F8D643-E72F-A281-35F7-2E03C0890B77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8A6B7544-768B-B45F-7144-7073D69D5B46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9" name="Freeform 4">
                <a:extLst>
                  <a:ext uri="{FF2B5EF4-FFF2-40B4-BE49-F238E27FC236}">
                    <a16:creationId xmlns:a16="http://schemas.microsoft.com/office/drawing/2014/main" id="{BD0095CF-BBB9-B1FE-C723-020C78F91BB9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0" name="TextBox 5">
                <a:extLst>
                  <a:ext uri="{FF2B5EF4-FFF2-40B4-BE49-F238E27FC236}">
                    <a16:creationId xmlns:a16="http://schemas.microsoft.com/office/drawing/2014/main" id="{E78FB046-4C4F-DFCA-134E-DFAE419561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55" name="Group 6">
              <a:extLst>
                <a:ext uri="{FF2B5EF4-FFF2-40B4-BE49-F238E27FC236}">
                  <a16:creationId xmlns:a16="http://schemas.microsoft.com/office/drawing/2014/main" id="{0268AC50-94D9-F06A-A4D2-B2641FC7AC74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F656C97A-A4CC-12B9-EC99-3124EB06722A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8" name="TextBox 8">
                <a:extLst>
                  <a:ext uri="{FF2B5EF4-FFF2-40B4-BE49-F238E27FC236}">
                    <a16:creationId xmlns:a16="http://schemas.microsoft.com/office/drawing/2014/main" id="{BF135F88-B778-C98A-2838-778D3CD87B1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56" name="TextBox 9">
              <a:extLst>
                <a:ext uri="{FF2B5EF4-FFF2-40B4-BE49-F238E27FC236}">
                  <a16:creationId xmlns:a16="http://schemas.microsoft.com/office/drawing/2014/main" id="{FD0533D2-FB90-E348-D3E2-8BDA7D86FC78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FE069B-654F-3DF8-7736-DCCDEFA655C1}"/>
              </a:ext>
            </a:extLst>
          </p:cNvPr>
          <p:cNvSpPr/>
          <p:nvPr/>
        </p:nvSpPr>
        <p:spPr>
          <a:xfrm>
            <a:off x="8305798" y="1824568"/>
            <a:ext cx="9372600" cy="2750466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245A45-B4AD-6DBB-3035-748AA9D010E3}"/>
              </a:ext>
            </a:extLst>
          </p:cNvPr>
          <p:cNvGrpSpPr/>
          <p:nvPr/>
        </p:nvGrpSpPr>
        <p:grpSpPr>
          <a:xfrm>
            <a:off x="482443" y="1678825"/>
            <a:ext cx="4495800" cy="3308679"/>
            <a:chOff x="914400" y="2400300"/>
            <a:chExt cx="4495800" cy="3308679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51C1A538-5BB2-87D8-EA47-4390285C1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4400" y="2400300"/>
              <a:ext cx="985510" cy="98551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E9679573-5135-784E-0FF7-0BF1168C8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0223" y="3555656"/>
              <a:ext cx="985510" cy="985510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BD5D7A6-ED48-AEA9-8126-2D756E9D3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0223" y="4723469"/>
              <a:ext cx="985510" cy="985510"/>
            </a:xfrm>
            <a:prstGeom prst="rect">
              <a:avLst/>
            </a:prstGeom>
          </p:spPr>
        </p:pic>
        <p:sp>
          <p:nvSpPr>
            <p:cNvPr id="32" name="TextBox 11">
              <a:extLst>
                <a:ext uri="{FF2B5EF4-FFF2-40B4-BE49-F238E27FC236}">
                  <a16:creationId xmlns:a16="http://schemas.microsoft.com/office/drawing/2014/main" id="{C3D7CADE-3263-184F-9D70-8A65EABF970D}"/>
                </a:ext>
              </a:extLst>
            </p:cNvPr>
            <p:cNvSpPr txBox="1"/>
            <p:nvPr/>
          </p:nvSpPr>
          <p:spPr>
            <a:xfrm>
              <a:off x="2133600" y="2781300"/>
              <a:ext cx="3276600" cy="422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dirty="0">
                  <a:solidFill>
                    <a:srgbClr val="162C54"/>
                  </a:solidFill>
                  <a:latin typeface="Montaser Arabic Bold"/>
                </a:rPr>
                <a:t>Orders meta information</a:t>
              </a: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15FFCF46-639C-2731-65A9-8A977DAC78F0}"/>
                </a:ext>
              </a:extLst>
            </p:cNvPr>
            <p:cNvSpPr txBox="1"/>
            <p:nvPr/>
          </p:nvSpPr>
          <p:spPr>
            <a:xfrm>
              <a:off x="2133600" y="4118614"/>
              <a:ext cx="3276600" cy="422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dirty="0">
                  <a:solidFill>
                    <a:srgbClr val="162C54"/>
                  </a:solidFill>
                  <a:latin typeface="Montaser Arabic Bold"/>
                </a:rPr>
                <a:t>Order line items</a:t>
              </a: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E3E9F64B-FEC9-E665-6EE1-053EA053646B}"/>
                </a:ext>
              </a:extLst>
            </p:cNvPr>
            <p:cNvSpPr txBox="1"/>
            <p:nvPr/>
          </p:nvSpPr>
          <p:spPr>
            <a:xfrm>
              <a:off x="2133600" y="5192468"/>
              <a:ext cx="3276600" cy="4225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dirty="0">
                  <a:solidFill>
                    <a:srgbClr val="162C54"/>
                  </a:solidFill>
                  <a:latin typeface="Montaser Arabic Bold"/>
                </a:rPr>
                <a:t>Cost per SKU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9505556-DBE4-1B00-C9C7-2967EBFF1E01}"/>
              </a:ext>
            </a:extLst>
          </p:cNvPr>
          <p:cNvSpPr/>
          <p:nvPr/>
        </p:nvSpPr>
        <p:spPr>
          <a:xfrm>
            <a:off x="9448802" y="2802941"/>
            <a:ext cx="2057400" cy="714041"/>
          </a:xfrm>
          <a:prstGeom prst="rect">
            <a:avLst/>
          </a:prstGeom>
          <a:solidFill>
            <a:srgbClr val="E96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cust</a:t>
            </a:r>
            <a:endParaRPr lang="en-V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8BC3A0-CF5D-790C-A834-204397257CDE}"/>
              </a:ext>
            </a:extLst>
          </p:cNvPr>
          <p:cNvSpPr/>
          <p:nvPr/>
        </p:nvSpPr>
        <p:spPr>
          <a:xfrm>
            <a:off x="12192000" y="2791407"/>
            <a:ext cx="2057400" cy="714041"/>
          </a:xfrm>
          <a:prstGeom prst="rect">
            <a:avLst/>
          </a:prstGeom>
          <a:solidFill>
            <a:srgbClr val="E96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cust_transform</a:t>
            </a:r>
            <a:endParaRPr lang="en-V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93301-F2E3-36C7-CC5D-B9A7653731C7}"/>
              </a:ext>
            </a:extLst>
          </p:cNvPr>
          <p:cNvSpPr/>
          <p:nvPr/>
        </p:nvSpPr>
        <p:spPr>
          <a:xfrm>
            <a:off x="14935198" y="2791407"/>
            <a:ext cx="2057401" cy="702507"/>
          </a:xfrm>
          <a:prstGeom prst="rect">
            <a:avLst/>
          </a:prstGeom>
          <a:solidFill>
            <a:srgbClr val="E96F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cust_report</a:t>
            </a:r>
            <a:endParaRPr lang="en-VN" dirty="0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436F7D1-C68E-273B-94C5-C47A4DA1BC68}"/>
              </a:ext>
            </a:extLst>
          </p:cNvPr>
          <p:cNvSpPr txBox="1"/>
          <p:nvPr/>
        </p:nvSpPr>
        <p:spPr>
          <a:xfrm>
            <a:off x="10820400" y="1943100"/>
            <a:ext cx="4800600" cy="441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3 layers (schema)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6B874-B37D-D864-F155-8FA5D6E32926}"/>
              </a:ext>
            </a:extLst>
          </p:cNvPr>
          <p:cNvSpPr txBox="1"/>
          <p:nvPr/>
        </p:nvSpPr>
        <p:spPr>
          <a:xfrm>
            <a:off x="12277610" y="3724425"/>
            <a:ext cx="242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Transform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Aggregation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FC0FDA-E1CB-A8C7-E053-8FC338DE8839}"/>
              </a:ext>
            </a:extLst>
          </p:cNvPr>
          <p:cNvSpPr txBox="1"/>
          <p:nvPr/>
        </p:nvSpPr>
        <p:spPr>
          <a:xfrm>
            <a:off x="9553233" y="3724425"/>
            <a:ext cx="2153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Raw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Ingest directly from dbt seed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F067D8-C1CB-80CF-F8E7-F448F2AB263A}"/>
              </a:ext>
            </a:extLst>
          </p:cNvPr>
          <p:cNvSpPr txBox="1"/>
          <p:nvPr/>
        </p:nvSpPr>
        <p:spPr>
          <a:xfrm>
            <a:off x="14966350" y="3707644"/>
            <a:ext cx="2428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Reporting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dirty="0"/>
              <a:t>Reporting Layer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56C8AE7-D8B6-2516-3646-FAAF7148B198}"/>
              </a:ext>
            </a:extLst>
          </p:cNvPr>
          <p:cNvGrpSpPr/>
          <p:nvPr/>
        </p:nvGrpSpPr>
        <p:grpSpPr>
          <a:xfrm>
            <a:off x="8653021" y="1934341"/>
            <a:ext cx="1455868" cy="868600"/>
            <a:chOff x="2057400" y="3214469"/>
            <a:chExt cx="4872448" cy="2907001"/>
          </a:xfrm>
        </p:grpSpPr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FD89127C-27DB-D24C-98CA-46E25E96D511}"/>
                </a:ext>
              </a:extLst>
            </p:cNvPr>
            <p:cNvSpPr txBox="1"/>
            <p:nvPr/>
          </p:nvSpPr>
          <p:spPr>
            <a:xfrm>
              <a:off x="2584123" y="5464894"/>
              <a:ext cx="4345725" cy="6565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endParaRPr lang="en-US" sz="2400" dirty="0">
                <a:solidFill>
                  <a:srgbClr val="162C54"/>
                </a:solidFill>
                <a:latin typeface="Montaser Arabic Bold"/>
              </a:endParaRPr>
            </a:p>
          </p:txBody>
        </p:sp>
        <p:pic>
          <p:nvPicPr>
            <p:cNvPr id="22" name="Picture 2" descr="Getting Started With PostgreSQL. There are numerous different types of… |  by Alex Mitrani | Medium">
              <a:extLst>
                <a:ext uri="{FF2B5EF4-FFF2-40B4-BE49-F238E27FC236}">
                  <a16:creationId xmlns:a16="http://schemas.microsoft.com/office/drawing/2014/main" id="{CBF1C488-693A-2FF2-A9C1-10AD241AAB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3214469"/>
              <a:ext cx="4872448" cy="2236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" name="Picture 4" descr="Moderne Data Pipelines mit dem data build tool (dbt) – Teil 1: Einführung">
            <a:extLst>
              <a:ext uri="{FF2B5EF4-FFF2-40B4-BE49-F238E27FC236}">
                <a16:creationId xmlns:a16="http://schemas.microsoft.com/office/drawing/2014/main" id="{FF3145D8-3F31-CA3E-2149-0484DD1A3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595" y="2463425"/>
            <a:ext cx="2107113" cy="1053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2099DE-1AE7-9D39-3E84-7E8C67F6CB0F}"/>
              </a:ext>
            </a:extLst>
          </p:cNvPr>
          <p:cNvCxnSpPr>
            <a:cxnSpLocks/>
          </p:cNvCxnSpPr>
          <p:nvPr/>
        </p:nvCxnSpPr>
        <p:spPr>
          <a:xfrm>
            <a:off x="4876798" y="3397139"/>
            <a:ext cx="2743198" cy="0"/>
          </a:xfrm>
          <a:prstGeom prst="straightConnector1">
            <a:avLst/>
          </a:prstGeom>
          <a:ln w="508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1">
            <a:extLst>
              <a:ext uri="{FF2B5EF4-FFF2-40B4-BE49-F238E27FC236}">
                <a16:creationId xmlns:a16="http://schemas.microsoft.com/office/drawing/2014/main" id="{95A4A1E7-AA06-F29E-0AD8-099C446F7F29}"/>
              </a:ext>
            </a:extLst>
          </p:cNvPr>
          <p:cNvSpPr txBox="1"/>
          <p:nvPr/>
        </p:nvSpPr>
        <p:spPr>
          <a:xfrm>
            <a:off x="4828050" y="3516982"/>
            <a:ext cx="2743198" cy="42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dirty="0" err="1">
                <a:solidFill>
                  <a:srgbClr val="162C54"/>
                </a:solidFill>
                <a:latin typeface="Montaser Arabic Bold"/>
              </a:rPr>
              <a:t>dbt</a:t>
            </a:r>
            <a:r>
              <a:rPr lang="en-US" dirty="0">
                <a:solidFill>
                  <a:srgbClr val="162C54"/>
                </a:solidFill>
                <a:latin typeface="Montaser Arabic Bold"/>
              </a:rPr>
              <a:t> seed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97EB11-2AD3-F0E9-1FFF-79D0C9FDD9AF}"/>
              </a:ext>
            </a:extLst>
          </p:cNvPr>
          <p:cNvCxnSpPr>
            <a:cxnSpLocks/>
          </p:cNvCxnSpPr>
          <p:nvPr/>
        </p:nvCxnSpPr>
        <p:spPr>
          <a:xfrm>
            <a:off x="11506202" y="3199801"/>
            <a:ext cx="685798" cy="0"/>
          </a:xfrm>
          <a:prstGeom prst="straightConnector1">
            <a:avLst/>
          </a:prstGeom>
          <a:ln w="254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22F614D-3766-13A3-2476-776A991DAE53}"/>
              </a:ext>
            </a:extLst>
          </p:cNvPr>
          <p:cNvCxnSpPr>
            <a:cxnSpLocks/>
          </p:cNvCxnSpPr>
          <p:nvPr/>
        </p:nvCxnSpPr>
        <p:spPr>
          <a:xfrm>
            <a:off x="14249400" y="3199801"/>
            <a:ext cx="685798" cy="0"/>
          </a:xfrm>
          <a:prstGeom prst="straightConnector1">
            <a:avLst/>
          </a:prstGeom>
          <a:ln w="254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1A96CFCF-F527-B5AA-37C7-2454B0B3C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9666" y="4855198"/>
            <a:ext cx="3284668" cy="5062992"/>
          </a:xfrm>
          <a:prstGeom prst="rect">
            <a:avLst/>
          </a:prstGeom>
        </p:spPr>
      </p:pic>
      <p:grpSp>
        <p:nvGrpSpPr>
          <p:cNvPr id="45" name="Group 2">
            <a:extLst>
              <a:ext uri="{FF2B5EF4-FFF2-40B4-BE49-F238E27FC236}">
                <a16:creationId xmlns:a16="http://schemas.microsoft.com/office/drawing/2014/main" id="{4BE5F434-FF63-F1A8-9583-609D62ACA3A7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46" name="Group 3">
              <a:extLst>
                <a:ext uri="{FF2B5EF4-FFF2-40B4-BE49-F238E27FC236}">
                  <a16:creationId xmlns:a16="http://schemas.microsoft.com/office/drawing/2014/main" id="{60E554F6-ABE5-1967-5278-6E4A398517AF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1" name="Freeform 4">
                <a:extLst>
                  <a:ext uri="{FF2B5EF4-FFF2-40B4-BE49-F238E27FC236}">
                    <a16:creationId xmlns:a16="http://schemas.microsoft.com/office/drawing/2014/main" id="{AA6D2ED9-59E3-7298-2140-985CA5CAA31B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4F23DAC3-9428-B63A-F4E4-5B6EECEBDE1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47" name="Group 6">
              <a:extLst>
                <a:ext uri="{FF2B5EF4-FFF2-40B4-BE49-F238E27FC236}">
                  <a16:creationId xmlns:a16="http://schemas.microsoft.com/office/drawing/2014/main" id="{81E59DA3-570D-3180-EFBF-D31BAAB7C2BA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EDD69C7E-1F0D-2FC0-44DC-B840C6A569A8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9E86F3D9-011F-A3D6-2419-F55E4724266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F69C146D-218D-689C-26CE-470A45F312E7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6398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D8484B-741B-91D6-309F-FCCDFC32F9E7}"/>
              </a:ext>
            </a:extLst>
          </p:cNvPr>
          <p:cNvGrpSpPr/>
          <p:nvPr/>
        </p:nvGrpSpPr>
        <p:grpSpPr>
          <a:xfrm>
            <a:off x="3886200" y="1010575"/>
            <a:ext cx="9372600" cy="2823187"/>
            <a:chOff x="8305798" y="1824568"/>
            <a:chExt cx="9372600" cy="282318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FE069B-654F-3DF8-7736-DCCDEFA655C1}"/>
                </a:ext>
              </a:extLst>
            </p:cNvPr>
            <p:cNvSpPr/>
            <p:nvPr/>
          </p:nvSpPr>
          <p:spPr>
            <a:xfrm>
              <a:off x="8305798" y="1824568"/>
              <a:ext cx="9372600" cy="2750466"/>
            </a:xfrm>
            <a:prstGeom prst="rect">
              <a:avLst/>
            </a:prstGeom>
            <a:noFill/>
            <a:ln w="222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505556-DBE4-1B00-C9C7-2967EBFF1E01}"/>
                </a:ext>
              </a:extLst>
            </p:cNvPr>
            <p:cNvSpPr/>
            <p:nvPr/>
          </p:nvSpPr>
          <p:spPr>
            <a:xfrm>
              <a:off x="9448802" y="2802941"/>
              <a:ext cx="2057400" cy="714041"/>
            </a:xfrm>
            <a:prstGeom prst="rect">
              <a:avLst/>
            </a:prstGeom>
            <a:solidFill>
              <a:srgbClr val="E96F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cust</a:t>
              </a:r>
              <a:endParaRPr lang="en-VN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8BC3A0-CF5D-790C-A834-204397257CDE}"/>
                </a:ext>
              </a:extLst>
            </p:cNvPr>
            <p:cNvSpPr/>
            <p:nvPr/>
          </p:nvSpPr>
          <p:spPr>
            <a:xfrm>
              <a:off x="12192000" y="2791407"/>
              <a:ext cx="2057400" cy="714041"/>
            </a:xfrm>
            <a:prstGeom prst="rect">
              <a:avLst/>
            </a:prstGeom>
            <a:solidFill>
              <a:srgbClr val="E96F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cust_transform</a:t>
              </a:r>
              <a:endParaRPr lang="en-V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F93301-F2E3-36C7-CC5D-B9A7653731C7}"/>
                </a:ext>
              </a:extLst>
            </p:cNvPr>
            <p:cNvSpPr/>
            <p:nvPr/>
          </p:nvSpPr>
          <p:spPr>
            <a:xfrm>
              <a:off x="14935198" y="2791407"/>
              <a:ext cx="2057401" cy="702507"/>
            </a:xfrm>
            <a:prstGeom prst="rect">
              <a:avLst/>
            </a:prstGeom>
            <a:solidFill>
              <a:srgbClr val="E96F4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cust_report</a:t>
              </a:r>
              <a:endParaRPr lang="en-VN" dirty="0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7436F7D1-C68E-273B-94C5-C47A4DA1BC68}"/>
                </a:ext>
              </a:extLst>
            </p:cNvPr>
            <p:cNvSpPr txBox="1"/>
            <p:nvPr/>
          </p:nvSpPr>
          <p:spPr>
            <a:xfrm>
              <a:off x="10820400" y="1943100"/>
              <a:ext cx="4800600" cy="4415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840"/>
                </a:lnSpc>
              </a:pPr>
              <a:r>
                <a:rPr lang="en-US" sz="2400" dirty="0">
                  <a:solidFill>
                    <a:srgbClr val="162C54"/>
                  </a:solidFill>
                  <a:latin typeface="Montaser Arabic Bold"/>
                </a:rPr>
                <a:t>3 layers (schema) architecture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66B874-B37D-D864-F155-8FA5D6E32926}"/>
                </a:ext>
              </a:extLst>
            </p:cNvPr>
            <p:cNvSpPr txBox="1"/>
            <p:nvPr/>
          </p:nvSpPr>
          <p:spPr>
            <a:xfrm>
              <a:off x="12277610" y="3724425"/>
              <a:ext cx="2428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Transform schema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Aggregation table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FC0FDA-E1CB-A8C7-E053-8FC338DE8839}"/>
                </a:ext>
              </a:extLst>
            </p:cNvPr>
            <p:cNvSpPr txBox="1"/>
            <p:nvPr/>
          </p:nvSpPr>
          <p:spPr>
            <a:xfrm>
              <a:off x="9553233" y="3724425"/>
              <a:ext cx="215333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Raw schema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Ingest directly from dbt seed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F067D8-C1CB-80CF-F8E7-F448F2AB263A}"/>
                </a:ext>
              </a:extLst>
            </p:cNvPr>
            <p:cNvSpPr txBox="1"/>
            <p:nvPr/>
          </p:nvSpPr>
          <p:spPr>
            <a:xfrm>
              <a:off x="14966350" y="3707644"/>
              <a:ext cx="2428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Reporting schema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VN" dirty="0"/>
                <a:t>Reporting Layer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56C8AE7-D8B6-2516-3646-FAAF7148B198}"/>
                </a:ext>
              </a:extLst>
            </p:cNvPr>
            <p:cNvGrpSpPr/>
            <p:nvPr/>
          </p:nvGrpSpPr>
          <p:grpSpPr>
            <a:xfrm>
              <a:off x="8653021" y="1934341"/>
              <a:ext cx="1455868" cy="868600"/>
              <a:chOff x="2057400" y="3214469"/>
              <a:chExt cx="4872448" cy="2907001"/>
            </a:xfrm>
          </p:grpSpPr>
          <p:sp>
            <p:nvSpPr>
              <p:cNvPr id="21" name="TextBox 11">
                <a:extLst>
                  <a:ext uri="{FF2B5EF4-FFF2-40B4-BE49-F238E27FC236}">
                    <a16:creationId xmlns:a16="http://schemas.microsoft.com/office/drawing/2014/main" id="{FD89127C-27DB-D24C-98CA-46E25E96D511}"/>
                  </a:ext>
                </a:extLst>
              </p:cNvPr>
              <p:cNvSpPr txBox="1"/>
              <p:nvPr/>
            </p:nvSpPr>
            <p:spPr>
              <a:xfrm>
                <a:off x="2584123" y="5464894"/>
                <a:ext cx="4345725" cy="65657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just">
                  <a:lnSpc>
                    <a:spcPts val="3840"/>
                  </a:lnSpc>
                </a:pPr>
                <a:endParaRPr lang="en-US" sz="2400" dirty="0">
                  <a:solidFill>
                    <a:srgbClr val="162C54"/>
                  </a:solidFill>
                  <a:latin typeface="Montaser Arabic Bold"/>
                </a:endParaRPr>
              </a:p>
            </p:txBody>
          </p:sp>
          <p:pic>
            <p:nvPicPr>
              <p:cNvPr id="22" name="Picture 2" descr="Getting Started With PostgreSQL. There are numerous different types of… |  by Alex Mitrani | Medium">
                <a:extLst>
                  <a:ext uri="{FF2B5EF4-FFF2-40B4-BE49-F238E27FC236}">
                    <a16:creationId xmlns:a16="http://schemas.microsoft.com/office/drawing/2014/main" id="{CBF1C488-693A-2FF2-A9C1-10AD241AAB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7400" y="3214469"/>
                <a:ext cx="4872448" cy="2236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497EB11-2AD3-F0E9-1FFF-79D0C9FDD9AF}"/>
                </a:ext>
              </a:extLst>
            </p:cNvPr>
            <p:cNvCxnSpPr>
              <a:cxnSpLocks/>
            </p:cNvCxnSpPr>
            <p:nvPr/>
          </p:nvCxnSpPr>
          <p:spPr>
            <a:xfrm>
              <a:off x="11506202" y="3199801"/>
              <a:ext cx="685798" cy="0"/>
            </a:xfrm>
            <a:prstGeom prst="straightConnector1">
              <a:avLst/>
            </a:prstGeom>
            <a:ln w="25400">
              <a:solidFill>
                <a:srgbClr val="162B5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22F614D-3766-13A3-2476-776A991DAE53}"/>
                </a:ext>
              </a:extLst>
            </p:cNvPr>
            <p:cNvCxnSpPr>
              <a:cxnSpLocks/>
            </p:cNvCxnSpPr>
            <p:nvPr/>
          </p:nvCxnSpPr>
          <p:spPr>
            <a:xfrm>
              <a:off x="14249400" y="3199801"/>
              <a:ext cx="685798" cy="0"/>
            </a:xfrm>
            <a:prstGeom prst="straightConnector1">
              <a:avLst/>
            </a:prstGeom>
            <a:ln w="25400">
              <a:solidFill>
                <a:srgbClr val="162B5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2DC96ED-AACC-68C3-6263-9F803A90109C}"/>
              </a:ext>
            </a:extLst>
          </p:cNvPr>
          <p:cNvCxnSpPr>
            <a:cxnSpLocks/>
          </p:cNvCxnSpPr>
          <p:nvPr/>
        </p:nvCxnSpPr>
        <p:spPr>
          <a:xfrm>
            <a:off x="7463173" y="2385808"/>
            <a:ext cx="0" cy="2757692"/>
          </a:xfrm>
          <a:prstGeom prst="straightConnector1">
            <a:avLst/>
          </a:prstGeom>
          <a:ln w="254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5FC1331-020F-8773-DCEC-D83AB5559F18}"/>
              </a:ext>
            </a:extLst>
          </p:cNvPr>
          <p:cNvSpPr/>
          <p:nvPr/>
        </p:nvSpPr>
        <p:spPr>
          <a:xfrm>
            <a:off x="6096008" y="5143501"/>
            <a:ext cx="2816640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model_transform_table_toy.sql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A0C48F-7115-C93C-90DA-5D94415A2546}"/>
              </a:ext>
            </a:extLst>
          </p:cNvPr>
          <p:cNvSpPr/>
          <p:nvPr/>
        </p:nvSpPr>
        <p:spPr>
          <a:xfrm>
            <a:off x="9857402" y="5147893"/>
            <a:ext cx="2715599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model_report_margin.sql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model_report_total_orders.sql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AC19C83-05AE-FFAC-3543-9BBC9B1233B7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>
          <a:xfrm>
            <a:off x="8912648" y="5486401"/>
            <a:ext cx="944754" cy="4392"/>
          </a:xfrm>
          <a:prstGeom prst="straightConnector1">
            <a:avLst/>
          </a:prstGeom>
          <a:ln w="254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99443C-CEB3-89EE-8B85-27F77D274F13}"/>
              </a:ext>
            </a:extLst>
          </p:cNvPr>
          <p:cNvCxnSpPr>
            <a:cxnSpLocks/>
          </p:cNvCxnSpPr>
          <p:nvPr/>
        </p:nvCxnSpPr>
        <p:spPr>
          <a:xfrm flipH="1" flipV="1">
            <a:off x="10259645" y="2385808"/>
            <a:ext cx="4047" cy="2762085"/>
          </a:xfrm>
          <a:prstGeom prst="straightConnector1">
            <a:avLst/>
          </a:prstGeom>
          <a:ln w="25400">
            <a:solidFill>
              <a:srgbClr val="162B5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2">
            <a:extLst>
              <a:ext uri="{FF2B5EF4-FFF2-40B4-BE49-F238E27FC236}">
                <a16:creationId xmlns:a16="http://schemas.microsoft.com/office/drawing/2014/main" id="{84CAD537-01C8-8F2C-E744-00701FDF0E9C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59" name="Group 3">
              <a:extLst>
                <a:ext uri="{FF2B5EF4-FFF2-40B4-BE49-F238E27FC236}">
                  <a16:creationId xmlns:a16="http://schemas.microsoft.com/office/drawing/2014/main" id="{0BBE4296-1E2B-BE60-2FEC-65A96CDAEFD4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64" name="Freeform 4">
                <a:extLst>
                  <a:ext uri="{FF2B5EF4-FFF2-40B4-BE49-F238E27FC236}">
                    <a16:creationId xmlns:a16="http://schemas.microsoft.com/office/drawing/2014/main" id="{4CFA14EB-E788-EB21-5414-54EC5C871181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554F0277-4DB1-A7A2-9D2B-B59B8A64793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A425A2ED-6A4B-A3CE-BDF7-FC8BBFDC6489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62" name="Freeform 7">
                <a:extLst>
                  <a:ext uri="{FF2B5EF4-FFF2-40B4-BE49-F238E27FC236}">
                    <a16:creationId xmlns:a16="http://schemas.microsoft.com/office/drawing/2014/main" id="{0B546855-712E-8ADE-BBEF-326A242D74F3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63" name="TextBox 8">
                <a:extLst>
                  <a:ext uri="{FF2B5EF4-FFF2-40B4-BE49-F238E27FC236}">
                    <a16:creationId xmlns:a16="http://schemas.microsoft.com/office/drawing/2014/main" id="{B0DF4B32-0B74-BEB3-AD41-DA61FC7E37B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1" name="TextBox 9">
              <a:extLst>
                <a:ext uri="{FF2B5EF4-FFF2-40B4-BE49-F238E27FC236}">
                  <a16:creationId xmlns:a16="http://schemas.microsoft.com/office/drawing/2014/main" id="{A5141504-5CBD-44C7-47AD-0DA9C933E3B2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223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5FC1331-020F-8773-DCEC-D83AB5559F18}"/>
              </a:ext>
            </a:extLst>
          </p:cNvPr>
          <p:cNvSpPr/>
          <p:nvPr/>
        </p:nvSpPr>
        <p:spPr>
          <a:xfrm>
            <a:off x="914400" y="5143500"/>
            <a:ext cx="2816640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model_transform_table_toy.sql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A0C48F-7115-C93C-90DA-5D94415A2546}"/>
              </a:ext>
            </a:extLst>
          </p:cNvPr>
          <p:cNvSpPr/>
          <p:nvPr/>
        </p:nvSpPr>
        <p:spPr>
          <a:xfrm>
            <a:off x="10058400" y="-800100"/>
            <a:ext cx="2715599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model_report_margin.sql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model_report_total_orders.sql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DC36324-74A4-E195-D2FA-53B2ACFD0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876300"/>
            <a:ext cx="9753600" cy="56997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E8E3FD-9EC7-98C5-9D89-F2585F63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096" y="7003284"/>
            <a:ext cx="9982200" cy="278841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4539429-AD60-D61C-8419-D39E13D77EC2}"/>
              </a:ext>
            </a:extLst>
          </p:cNvPr>
          <p:cNvSpPr txBox="1"/>
          <p:nvPr/>
        </p:nvSpPr>
        <p:spPr>
          <a:xfrm>
            <a:off x="4953000" y="6553503"/>
            <a:ext cx="5430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Figure 1: Transforming logic of table tbl_aggr_toy_data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D2F6AD-F6DD-B1AC-6FF2-236C2E7066CF}"/>
              </a:ext>
            </a:extLst>
          </p:cNvPr>
          <p:cNvSpPr txBox="1"/>
          <p:nvPr/>
        </p:nvSpPr>
        <p:spPr>
          <a:xfrm>
            <a:off x="4845857" y="9872149"/>
            <a:ext cx="375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Figure 2: Output of model in figure (1)</a:t>
            </a: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795BB51B-915E-EA9A-93DA-33CC8D5DE5D4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37" name="Group 3">
              <a:extLst>
                <a:ext uri="{FF2B5EF4-FFF2-40B4-BE49-F238E27FC236}">
                  <a16:creationId xmlns:a16="http://schemas.microsoft.com/office/drawing/2014/main" id="{67047425-7B2A-196E-F19D-99BE16EBDFEE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46" name="Freeform 4">
                <a:extLst>
                  <a:ext uri="{FF2B5EF4-FFF2-40B4-BE49-F238E27FC236}">
                    <a16:creationId xmlns:a16="http://schemas.microsoft.com/office/drawing/2014/main" id="{FDDF879F-31BC-422A-A4B4-F045CA508137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7" name="TextBox 5">
                <a:extLst>
                  <a:ext uri="{FF2B5EF4-FFF2-40B4-BE49-F238E27FC236}">
                    <a16:creationId xmlns:a16="http://schemas.microsoft.com/office/drawing/2014/main" id="{1FF37849-BA92-CB28-9BE8-8B60C81F34E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B8438751-F6B9-6B69-E0B7-FC0B40F1FB39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42" name="Freeform 7">
                <a:extLst>
                  <a:ext uri="{FF2B5EF4-FFF2-40B4-BE49-F238E27FC236}">
                    <a16:creationId xmlns:a16="http://schemas.microsoft.com/office/drawing/2014/main" id="{2EF7208D-C1C9-3898-A375-8B031C0BEEE8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45" name="TextBox 8">
                <a:extLst>
                  <a:ext uri="{FF2B5EF4-FFF2-40B4-BE49-F238E27FC236}">
                    <a16:creationId xmlns:a16="http://schemas.microsoft.com/office/drawing/2014/main" id="{FE281EF2-22E7-6516-7E98-5DCCD7AA262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2F96313E-5E7C-FCD7-C878-E7B3864A9E7D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655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5FC1331-020F-8773-DCEC-D83AB5559F18}"/>
              </a:ext>
            </a:extLst>
          </p:cNvPr>
          <p:cNvSpPr/>
          <p:nvPr/>
        </p:nvSpPr>
        <p:spPr>
          <a:xfrm>
            <a:off x="914400" y="5143500"/>
            <a:ext cx="2816640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model_report_margin.sql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A0C48F-7115-C93C-90DA-5D94415A2546}"/>
              </a:ext>
            </a:extLst>
          </p:cNvPr>
          <p:cNvSpPr/>
          <p:nvPr/>
        </p:nvSpPr>
        <p:spPr>
          <a:xfrm>
            <a:off x="10058400" y="-800100"/>
            <a:ext cx="2715599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model_report_margin.sql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model_report_total_orders.sql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539429-AD60-D61C-8419-D39E13D77EC2}"/>
              </a:ext>
            </a:extLst>
          </p:cNvPr>
          <p:cNvSpPr txBox="1"/>
          <p:nvPr/>
        </p:nvSpPr>
        <p:spPr>
          <a:xfrm>
            <a:off x="4572000" y="5885993"/>
            <a:ext cx="6693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Figure 1: Transforming logic of table </a:t>
            </a:r>
            <a:r>
              <a:rPr lang="en-US" dirty="0" err="1">
                <a:solidFill>
                  <a:srgbClr val="000000"/>
                </a:solidFill>
                <a:effectLst/>
              </a:rPr>
              <a:t>tbl_aggr_margin_daily_summary</a:t>
            </a:r>
            <a:endParaRPr lang="en-US" dirty="0">
              <a:effectLst/>
            </a:endParaRPr>
          </a:p>
          <a:p>
            <a:endParaRPr lang="en-V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D2F6AD-F6DD-B1AC-6FF2-236C2E7066CF}"/>
              </a:ext>
            </a:extLst>
          </p:cNvPr>
          <p:cNvSpPr txBox="1"/>
          <p:nvPr/>
        </p:nvSpPr>
        <p:spPr>
          <a:xfrm>
            <a:off x="4649096" y="9844728"/>
            <a:ext cx="3756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Figure 2: Output of model in figure (1)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1EF484-ACA4-1B61-E2B0-F9C5ED98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096" y="1828262"/>
            <a:ext cx="7772400" cy="39772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964BA8-933D-7692-45AB-80502EB68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623" y="6300726"/>
            <a:ext cx="7261412" cy="3544002"/>
          </a:xfrm>
          <a:prstGeom prst="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143E033F-B74D-7863-928A-B052A28A11E7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21F6BF03-9C2C-7867-2F4E-3366F7B7235C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10" name="Freeform 4">
                <a:extLst>
                  <a:ext uri="{FF2B5EF4-FFF2-40B4-BE49-F238E27FC236}">
                    <a16:creationId xmlns:a16="http://schemas.microsoft.com/office/drawing/2014/main" id="{C60BCA5F-2DCA-41AF-5BB8-69F3E444BE16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1" name="TextBox 5">
                <a:extLst>
                  <a:ext uri="{FF2B5EF4-FFF2-40B4-BE49-F238E27FC236}">
                    <a16:creationId xmlns:a16="http://schemas.microsoft.com/office/drawing/2014/main" id="{70BEEC2B-E5E8-68C9-9449-92942F42B2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B1943F0-E9A6-CC2F-BA72-670C94DD9E0A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3ACDBC45-4D03-D4FD-67AA-2D918D94776D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CF20600-E2F2-84AC-166F-FF99707E74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A10902F9-CFB9-6801-29FD-DBF8D86A7620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037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5FC1331-020F-8773-DCEC-D83AB5559F18}"/>
              </a:ext>
            </a:extLst>
          </p:cNvPr>
          <p:cNvSpPr/>
          <p:nvPr/>
        </p:nvSpPr>
        <p:spPr>
          <a:xfrm>
            <a:off x="914400" y="5143500"/>
            <a:ext cx="2816640" cy="685800"/>
          </a:xfrm>
          <a:prstGeom prst="rect">
            <a:avLst/>
          </a:prstGeom>
          <a:solidFill>
            <a:srgbClr val="162B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VN" sz="1400" dirty="0"/>
              <a:t>model_report_total_orders.sql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V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539429-AD60-D61C-8419-D39E13D77EC2}"/>
              </a:ext>
            </a:extLst>
          </p:cNvPr>
          <p:cNvSpPr txBox="1"/>
          <p:nvPr/>
        </p:nvSpPr>
        <p:spPr>
          <a:xfrm>
            <a:off x="4572000" y="5885993"/>
            <a:ext cx="66931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dirty="0"/>
              <a:t>Figure 1: Transforming logic of table </a:t>
            </a:r>
            <a:r>
              <a:rPr lang="en-US" dirty="0" err="1">
                <a:solidFill>
                  <a:srgbClr val="000000"/>
                </a:solidFill>
                <a:effectLst/>
              </a:rPr>
              <a:t>tbl_aggr_margin_daily_summary</a:t>
            </a:r>
            <a:endParaRPr lang="en-US" dirty="0">
              <a:effectLst/>
            </a:endParaRPr>
          </a:p>
          <a:p>
            <a:endParaRPr lang="en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9E0E2-801C-0BAF-272A-6CD624DB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967" y="1714500"/>
            <a:ext cx="11205609" cy="3781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5E4D1-2EAC-204E-6C8C-E01B20301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413" y="6209158"/>
            <a:ext cx="3558988" cy="4036601"/>
          </a:xfrm>
          <a:prstGeom prst="rect">
            <a:avLst/>
          </a:prstGeom>
        </p:spPr>
      </p:pic>
      <p:grpSp>
        <p:nvGrpSpPr>
          <p:cNvPr id="8" name="Group 2">
            <a:extLst>
              <a:ext uri="{FF2B5EF4-FFF2-40B4-BE49-F238E27FC236}">
                <a16:creationId xmlns:a16="http://schemas.microsoft.com/office/drawing/2014/main" id="{0584F019-3AE5-9243-D849-D0BD1F3DD7E8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08AF4785-8C3A-67B3-8ADC-B294F6881DD5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22" name="Freeform 4">
                <a:extLst>
                  <a:ext uri="{FF2B5EF4-FFF2-40B4-BE49-F238E27FC236}">
                    <a16:creationId xmlns:a16="http://schemas.microsoft.com/office/drawing/2014/main" id="{1DF5AAC6-25D8-C19F-004D-71A511C5A58E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07D47029-A9DD-1D8D-59E4-6602B0F396D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10" name="Group 6">
              <a:extLst>
                <a:ext uri="{FF2B5EF4-FFF2-40B4-BE49-F238E27FC236}">
                  <a16:creationId xmlns:a16="http://schemas.microsoft.com/office/drawing/2014/main" id="{20269BD0-1D94-3282-C99B-C9B40B518B2A}"/>
                </a:ext>
              </a:extLst>
            </p:cNvPr>
            <p:cNvGrpSpPr/>
            <p:nvPr/>
          </p:nvGrpSpPr>
          <p:grpSpPr>
            <a:xfrm>
              <a:off x="12192000" y="609526"/>
              <a:ext cx="6096000" cy="121677"/>
              <a:chOff x="0" y="0"/>
              <a:chExt cx="1204148" cy="24035"/>
            </a:xfrm>
          </p:grpSpPr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CF591C5B-04E5-D0D4-88A5-A8660B9EC225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1" name="TextBox 8">
                <a:extLst>
                  <a:ext uri="{FF2B5EF4-FFF2-40B4-BE49-F238E27FC236}">
                    <a16:creationId xmlns:a16="http://schemas.microsoft.com/office/drawing/2014/main" id="{7E3E9CAB-37D1-B48C-355E-575F2BAB18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A432C2FE-820F-707D-6816-104E54A56579}"/>
                </a:ext>
              </a:extLst>
            </p:cNvPr>
            <p:cNvSpPr txBox="1"/>
            <p:nvPr/>
          </p:nvSpPr>
          <p:spPr>
            <a:xfrm>
              <a:off x="12557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Implementing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196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197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9436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04504" y="1102697"/>
            <a:ext cx="6464051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Environment Setup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04504" y="3497878"/>
            <a:ext cx="6140296" cy="74225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Requirements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18965" y="1028700"/>
            <a:ext cx="1044058" cy="1044058"/>
            <a:chOff x="0" y="0"/>
            <a:chExt cx="1392077" cy="1392077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8965" y="3423881"/>
            <a:ext cx="1044058" cy="1044058"/>
            <a:chOff x="0" y="0"/>
            <a:chExt cx="1392077" cy="1392077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 dirty="0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404504" y="8292128"/>
            <a:ext cx="6216496" cy="742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/>
                </a:solidFill>
                <a:latin typeface="Montaser Arabic Bold"/>
              </a:rPr>
              <a:t>Result and future work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Agenda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04504" y="5895003"/>
            <a:ext cx="5683391" cy="749300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999" dirty="0">
                <a:solidFill>
                  <a:srgbClr val="E96F45">
                    <a:alpha val="25000"/>
                  </a:srgbClr>
                </a:solidFill>
                <a:latin typeface="Montaser Arabic Bold"/>
              </a:rPr>
              <a:t>Implementing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818965" y="5819062"/>
            <a:ext cx="1044058" cy="1044058"/>
            <a:chOff x="0" y="0"/>
            <a:chExt cx="1392077" cy="1392077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  <a:ln>
                <a:noFill/>
              </a:ln>
            </p:spPr>
            <p:txBody>
              <a:bodyPr/>
              <a:lstStyle/>
              <a:p>
                <a:endParaRPr lang="en-VN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24903" y="1797"/>
              <a:ext cx="742270" cy="1237177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 dirty="0">
                  <a:solidFill>
                    <a:srgbClr val="FFFFFF">
                      <a:alpha val="25000"/>
                    </a:srgbClr>
                  </a:solidFill>
                  <a:latin typeface="Montserrat Heavy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818965" y="8214242"/>
            <a:ext cx="1044058" cy="1044058"/>
            <a:chOff x="0" y="0"/>
            <a:chExt cx="1392077" cy="1392077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2077" cy="1392077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24903" y="5648"/>
              <a:ext cx="742270" cy="1237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5000" spc="-75">
                  <a:solidFill>
                    <a:srgbClr val="FFFFFF"/>
                  </a:solidFill>
                  <a:latin typeface="Montserrat Heavy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541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EE5A2573-5D02-2009-540F-0BC93410838A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46" name="Group 3">
              <a:extLst>
                <a:ext uri="{FF2B5EF4-FFF2-40B4-BE49-F238E27FC236}">
                  <a16:creationId xmlns:a16="http://schemas.microsoft.com/office/drawing/2014/main" id="{4F168D61-536D-5468-0E93-265D4FB3B63D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1" name="Freeform 4">
                <a:extLst>
                  <a:ext uri="{FF2B5EF4-FFF2-40B4-BE49-F238E27FC236}">
                    <a16:creationId xmlns:a16="http://schemas.microsoft.com/office/drawing/2014/main" id="{8B729EC2-1831-43D7-41A8-AB575039248A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099D2141-0F92-8DC0-4908-1EB8D5AB87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47" name="Group 6">
              <a:extLst>
                <a:ext uri="{FF2B5EF4-FFF2-40B4-BE49-F238E27FC236}">
                  <a16:creationId xmlns:a16="http://schemas.microsoft.com/office/drawing/2014/main" id="{C6EA6E1C-A260-8035-67A8-30C7735BC769}"/>
                </a:ext>
              </a:extLst>
            </p:cNvPr>
            <p:cNvGrpSpPr/>
            <p:nvPr/>
          </p:nvGrpSpPr>
          <p:grpSpPr>
            <a:xfrm>
              <a:off x="18288000" y="609526"/>
              <a:ext cx="6096000" cy="121677"/>
              <a:chOff x="0" y="0"/>
              <a:chExt cx="1204148" cy="24035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6A146394-8A16-D151-0F9D-79937A4741E1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37B64DD1-58BB-FE73-AC27-451C00E956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B00768C4-1736-2211-4A06-C6EBCC72B950}"/>
                </a:ext>
              </a:extLst>
            </p:cNvPr>
            <p:cNvSpPr txBox="1"/>
            <p:nvPr/>
          </p:nvSpPr>
          <p:spPr>
            <a:xfrm>
              <a:off x="18653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Result and FW</a:t>
              </a: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B3F7DDD6-B558-CA31-4A78-8D456FD3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24100"/>
            <a:ext cx="7772400" cy="4347274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E4DBE75-F47B-B793-919D-4E4CF0A7B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2" y="2499787"/>
            <a:ext cx="7772400" cy="4171587"/>
          </a:xfrm>
          <a:prstGeom prst="rect">
            <a:avLst/>
          </a:prstGeom>
        </p:spPr>
      </p:pic>
      <p:sp>
        <p:nvSpPr>
          <p:cNvPr id="55" name="TextBox 16">
            <a:extLst>
              <a:ext uri="{FF2B5EF4-FFF2-40B4-BE49-F238E27FC236}">
                <a16:creationId xmlns:a16="http://schemas.microsoft.com/office/drawing/2014/main" id="{3B75747F-DA8B-41D0-4A23-4D514B49FBD4}"/>
              </a:ext>
            </a:extLst>
          </p:cNvPr>
          <p:cNvSpPr txBox="1"/>
          <p:nvPr/>
        </p:nvSpPr>
        <p:spPr>
          <a:xfrm>
            <a:off x="946336" y="912063"/>
            <a:ext cx="8001000" cy="855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Total orders fluctuated over the 10-day period. </a:t>
            </a:r>
          </a:p>
          <a:p>
            <a:pPr marL="342900" indent="-342900" algn="just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Cancelled orders peaked at 12 on 01 Aug and 10 on 04 Aug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EE5A2573-5D02-2009-540F-0BC93410838A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46" name="Group 3">
              <a:extLst>
                <a:ext uri="{FF2B5EF4-FFF2-40B4-BE49-F238E27FC236}">
                  <a16:creationId xmlns:a16="http://schemas.microsoft.com/office/drawing/2014/main" id="{4F168D61-536D-5468-0E93-265D4FB3B63D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1" name="Freeform 4">
                <a:extLst>
                  <a:ext uri="{FF2B5EF4-FFF2-40B4-BE49-F238E27FC236}">
                    <a16:creationId xmlns:a16="http://schemas.microsoft.com/office/drawing/2014/main" id="{8B729EC2-1831-43D7-41A8-AB575039248A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099D2141-0F92-8DC0-4908-1EB8D5AB87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47" name="Group 6">
              <a:extLst>
                <a:ext uri="{FF2B5EF4-FFF2-40B4-BE49-F238E27FC236}">
                  <a16:creationId xmlns:a16="http://schemas.microsoft.com/office/drawing/2014/main" id="{C6EA6E1C-A260-8035-67A8-30C7735BC769}"/>
                </a:ext>
              </a:extLst>
            </p:cNvPr>
            <p:cNvGrpSpPr/>
            <p:nvPr/>
          </p:nvGrpSpPr>
          <p:grpSpPr>
            <a:xfrm>
              <a:off x="18288000" y="609526"/>
              <a:ext cx="6096000" cy="121677"/>
              <a:chOff x="0" y="0"/>
              <a:chExt cx="1204148" cy="24035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6A146394-8A16-D151-0F9D-79937A4741E1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37B64DD1-58BB-FE73-AC27-451C00E956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B00768C4-1736-2211-4A06-C6EBCC72B950}"/>
                </a:ext>
              </a:extLst>
            </p:cNvPr>
            <p:cNvSpPr txBox="1"/>
            <p:nvPr/>
          </p:nvSpPr>
          <p:spPr>
            <a:xfrm>
              <a:off x="18653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Result and FW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167B5EC-C10E-F1C4-76B6-428966F52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2764414"/>
            <a:ext cx="10346366" cy="5746900"/>
          </a:xfrm>
          <a:prstGeom prst="rect">
            <a:avLst/>
          </a:prstGeom>
        </p:spPr>
      </p:pic>
      <p:sp>
        <p:nvSpPr>
          <p:cNvPr id="3" name="TextBox 16">
            <a:extLst>
              <a:ext uri="{FF2B5EF4-FFF2-40B4-BE49-F238E27FC236}">
                <a16:creationId xmlns:a16="http://schemas.microsoft.com/office/drawing/2014/main" id="{F5CC840F-6C7F-B0C6-235E-E1F52AC815B4}"/>
              </a:ext>
            </a:extLst>
          </p:cNvPr>
          <p:cNvSpPr txBox="1"/>
          <p:nvPr/>
        </p:nvSpPr>
        <p:spPr>
          <a:xfrm>
            <a:off x="946336" y="912063"/>
            <a:ext cx="8001000" cy="1752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Margin revenue from completed orders was relatively stable over the 10-day period. </a:t>
            </a:r>
          </a:p>
          <a:p>
            <a:pPr marL="342900" indent="-342900" algn="just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The highest margin was on 07 Aug 2024 at over €8k, while the lowest was around €2.5k on 03 Aug 2024</a:t>
            </a:r>
          </a:p>
        </p:txBody>
      </p:sp>
    </p:spTree>
    <p:extLst>
      <p:ext uri="{BB962C8B-B14F-4D97-AF65-F5344CB8AC3E}">
        <p14:creationId xmlns:p14="http://schemas.microsoft.com/office/powerpoint/2010/main" val="2010354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0" y="9715500"/>
            <a:ext cx="17894673" cy="37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00"/>
              </a:lnSpc>
            </a:pPr>
            <a:r>
              <a:rPr lang="en-US" sz="2000">
                <a:solidFill>
                  <a:srgbClr val="162C54"/>
                </a:solidFill>
                <a:latin typeface="Montaser Arabic Bold"/>
              </a:rPr>
              <a:t>4</a:t>
            </a:r>
          </a:p>
        </p:txBody>
      </p:sp>
      <p:grpSp>
        <p:nvGrpSpPr>
          <p:cNvPr id="45" name="Group 2">
            <a:extLst>
              <a:ext uri="{FF2B5EF4-FFF2-40B4-BE49-F238E27FC236}">
                <a16:creationId xmlns:a16="http://schemas.microsoft.com/office/drawing/2014/main" id="{EE5A2573-5D02-2009-540F-0BC93410838A}"/>
              </a:ext>
            </a:extLst>
          </p:cNvPr>
          <p:cNvGrpSpPr/>
          <p:nvPr/>
        </p:nvGrpSpPr>
        <p:grpSpPr>
          <a:xfrm>
            <a:off x="0" y="192266"/>
            <a:ext cx="18288000" cy="620234"/>
            <a:chOff x="0" y="-85725"/>
            <a:chExt cx="24384000" cy="826977"/>
          </a:xfrm>
        </p:grpSpPr>
        <p:grpSp>
          <p:nvGrpSpPr>
            <p:cNvPr id="46" name="Group 3">
              <a:extLst>
                <a:ext uri="{FF2B5EF4-FFF2-40B4-BE49-F238E27FC236}">
                  <a16:creationId xmlns:a16="http://schemas.microsoft.com/office/drawing/2014/main" id="{4F168D61-536D-5468-0E93-265D4FB3B63D}"/>
                </a:ext>
              </a:extLst>
            </p:cNvPr>
            <p:cNvGrpSpPr/>
            <p:nvPr/>
          </p:nvGrpSpPr>
          <p:grpSpPr>
            <a:xfrm>
              <a:off x="0" y="609526"/>
              <a:ext cx="24384000" cy="131726"/>
              <a:chOff x="0" y="0"/>
              <a:chExt cx="4816593" cy="26020"/>
            </a:xfrm>
          </p:grpSpPr>
          <p:sp>
            <p:nvSpPr>
              <p:cNvPr id="51" name="Freeform 4">
                <a:extLst>
                  <a:ext uri="{FF2B5EF4-FFF2-40B4-BE49-F238E27FC236}">
                    <a16:creationId xmlns:a16="http://schemas.microsoft.com/office/drawing/2014/main" id="{8B729EC2-1831-43D7-41A8-AB575039248A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26020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6020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6020"/>
                    </a:lnTo>
                    <a:lnTo>
                      <a:pt x="0" y="26020"/>
                    </a:lnTo>
                    <a:close/>
                  </a:path>
                </a:pathLst>
              </a:custGeom>
              <a:solidFill>
                <a:srgbClr val="EEEBEB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099D2141-0F92-8DC0-4908-1EB8D5AB87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816593" cy="64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47" name="Group 6">
              <a:extLst>
                <a:ext uri="{FF2B5EF4-FFF2-40B4-BE49-F238E27FC236}">
                  <a16:creationId xmlns:a16="http://schemas.microsoft.com/office/drawing/2014/main" id="{C6EA6E1C-A260-8035-67A8-30C7735BC769}"/>
                </a:ext>
              </a:extLst>
            </p:cNvPr>
            <p:cNvGrpSpPr/>
            <p:nvPr/>
          </p:nvGrpSpPr>
          <p:grpSpPr>
            <a:xfrm>
              <a:off x="18288000" y="609526"/>
              <a:ext cx="6096000" cy="121677"/>
              <a:chOff x="0" y="0"/>
              <a:chExt cx="1204148" cy="24035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6A146394-8A16-D151-0F9D-79937A4741E1}"/>
                  </a:ext>
                </a:extLst>
              </p:cNvPr>
              <p:cNvSpPr/>
              <p:nvPr/>
            </p:nvSpPr>
            <p:spPr>
              <a:xfrm>
                <a:off x="0" y="0"/>
                <a:ext cx="1204148" cy="24035"/>
              </a:xfrm>
              <a:custGeom>
                <a:avLst/>
                <a:gdLst/>
                <a:ahLst/>
                <a:cxnLst/>
                <a:rect l="l" t="t" r="r" b="b"/>
                <a:pathLst>
                  <a:path w="1204148" h="24035">
                    <a:moveTo>
                      <a:pt x="0" y="0"/>
                    </a:moveTo>
                    <a:lnTo>
                      <a:pt x="1204148" y="0"/>
                    </a:lnTo>
                    <a:lnTo>
                      <a:pt x="1204148" y="24035"/>
                    </a:lnTo>
                    <a:lnTo>
                      <a:pt x="0" y="24035"/>
                    </a:lnTo>
                    <a:close/>
                  </a:path>
                </a:pathLst>
              </a:custGeom>
              <a:solidFill>
                <a:srgbClr val="E96F45"/>
              </a:solidFill>
            </p:spPr>
            <p:txBody>
              <a:bodyPr/>
              <a:lstStyle/>
              <a:p>
                <a:endParaRPr lang="en-VN"/>
              </a:p>
            </p:txBody>
          </p:sp>
          <p:sp>
            <p:nvSpPr>
              <p:cNvPr id="50" name="TextBox 8">
                <a:extLst>
                  <a:ext uri="{FF2B5EF4-FFF2-40B4-BE49-F238E27FC236}">
                    <a16:creationId xmlns:a16="http://schemas.microsoft.com/office/drawing/2014/main" id="{37B64DD1-58BB-FE73-AC27-451C00E956D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204148" cy="621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B00768C4-1736-2211-4A06-C6EBCC72B950}"/>
                </a:ext>
              </a:extLst>
            </p:cNvPr>
            <p:cNvSpPr txBox="1"/>
            <p:nvPr/>
          </p:nvSpPr>
          <p:spPr>
            <a:xfrm>
              <a:off x="18653143" y="-85725"/>
              <a:ext cx="5365715" cy="5887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40"/>
                </a:lnSpc>
              </a:pPr>
              <a:r>
                <a:rPr lang="en-US" sz="2400" dirty="0">
                  <a:solidFill>
                    <a:srgbClr val="E96F45"/>
                  </a:solidFill>
                  <a:latin typeface="Montaser Arabic Bold"/>
                </a:rPr>
                <a:t>Result and FW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DEF6E57-D756-C388-1FCB-0F4A1027C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19300"/>
            <a:ext cx="7772400" cy="5505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EC9E57-7532-55D0-3C44-74939599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8" y="2019300"/>
            <a:ext cx="7772400" cy="5505450"/>
          </a:xfrm>
          <a:prstGeom prst="rect">
            <a:avLst/>
          </a:prstGeom>
        </p:spPr>
      </p:pic>
      <p:sp>
        <p:nvSpPr>
          <p:cNvPr id="5" name="TextBox 20">
            <a:extLst>
              <a:ext uri="{FF2B5EF4-FFF2-40B4-BE49-F238E27FC236}">
                <a16:creationId xmlns:a16="http://schemas.microsoft.com/office/drawing/2014/main" id="{2CA7D25A-538C-CBE2-9CE2-7B91ED645280}"/>
              </a:ext>
            </a:extLst>
          </p:cNvPr>
          <p:cNvSpPr txBox="1"/>
          <p:nvPr/>
        </p:nvSpPr>
        <p:spPr>
          <a:xfrm>
            <a:off x="1676400" y="7524750"/>
            <a:ext cx="5037809" cy="449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Tax rate by Order line item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51125A69-308B-719C-0B41-B7F3CF4881FF}"/>
              </a:ext>
            </a:extLst>
          </p:cNvPr>
          <p:cNvSpPr txBox="1"/>
          <p:nvPr/>
        </p:nvSpPr>
        <p:spPr>
          <a:xfrm>
            <a:off x="10964191" y="7524749"/>
            <a:ext cx="5037809" cy="449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dirty="0">
                <a:solidFill>
                  <a:srgbClr val="162C54"/>
                </a:solidFill>
                <a:latin typeface="Montaser Arabic Bold"/>
              </a:rPr>
              <a:t>Tax rate by Order meta</a:t>
            </a: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815A7497-E930-D7CD-202F-4BAF9AA3B16D}"/>
              </a:ext>
            </a:extLst>
          </p:cNvPr>
          <p:cNvSpPr txBox="1"/>
          <p:nvPr/>
        </p:nvSpPr>
        <p:spPr>
          <a:xfrm>
            <a:off x="946336" y="912063"/>
            <a:ext cx="13607864" cy="406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Appendix 1: Compare the tax rate of Order line item and Order meta as a data source</a:t>
            </a: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A5DCEA76-4E59-3F9A-BEAE-8DF4C1E18704}"/>
              </a:ext>
            </a:extLst>
          </p:cNvPr>
          <p:cNvSpPr txBox="1"/>
          <p:nvPr/>
        </p:nvSpPr>
        <p:spPr>
          <a:xfrm>
            <a:off x="2143404" y="8378995"/>
            <a:ext cx="13607864" cy="1303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519"/>
              </a:lnSpc>
            </a:pPr>
            <a:r>
              <a:rPr lang="en-US" sz="2199" dirty="0">
                <a:solidFill>
                  <a:srgbClr val="162C54"/>
                </a:solidFill>
                <a:latin typeface="Cabin Bold"/>
              </a:rPr>
              <a:t>The data is sourced from two tables, and the histogram shows a </a:t>
            </a:r>
            <a:r>
              <a:rPr lang="en-US" sz="2199" dirty="0">
                <a:solidFill>
                  <a:srgbClr val="E96F45"/>
                </a:solidFill>
                <a:latin typeface="Cabin Bold"/>
              </a:rPr>
              <a:t>similar distribution </a:t>
            </a:r>
            <a:r>
              <a:rPr lang="en-US" sz="2199" dirty="0">
                <a:solidFill>
                  <a:srgbClr val="162C54"/>
                </a:solidFill>
                <a:latin typeface="Cabin Bold"/>
              </a:rPr>
              <a:t>between the two sources, with around </a:t>
            </a:r>
            <a:r>
              <a:rPr lang="en-US" sz="2199" dirty="0">
                <a:solidFill>
                  <a:srgbClr val="E96F45"/>
                </a:solidFill>
                <a:latin typeface="Cabin Bold"/>
              </a:rPr>
              <a:t>19% </a:t>
            </a:r>
            <a:r>
              <a:rPr lang="en-US" sz="2199" dirty="0">
                <a:solidFill>
                  <a:srgbClr val="162C54"/>
                </a:solidFill>
                <a:latin typeface="Cabin Bold"/>
              </a:rPr>
              <a:t>of the data points reflecting the same tax rate =&gt; Cannot conclude any assumption about the data reliability</a:t>
            </a:r>
          </a:p>
        </p:txBody>
      </p:sp>
    </p:spTree>
    <p:extLst>
      <p:ext uri="{BB962C8B-B14F-4D97-AF65-F5344CB8AC3E}">
        <p14:creationId xmlns:p14="http://schemas.microsoft.com/office/powerpoint/2010/main" val="1767417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7196" cy="10287000"/>
            <a:chOff x="0" y="0"/>
            <a:chExt cx="168485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858" cy="2709333"/>
            </a:xfrm>
            <a:custGeom>
              <a:avLst/>
              <a:gdLst/>
              <a:ahLst/>
              <a:cxnLst/>
              <a:rect l="l" t="t" r="r" b="b"/>
              <a:pathLst>
                <a:path w="1684858" h="2709333">
                  <a:moveTo>
                    <a:pt x="0" y="0"/>
                  </a:moveTo>
                  <a:lnTo>
                    <a:pt x="1684858" y="0"/>
                  </a:lnTo>
                  <a:lnTo>
                    <a:pt x="168485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C54"/>
            </a:solidFill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485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94572" y="4575194"/>
            <a:ext cx="3408053" cy="94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5000" dirty="0">
                <a:solidFill>
                  <a:srgbClr val="F3B3B1"/>
                </a:solidFill>
                <a:latin typeface="Montaser Arabic Bold"/>
              </a:rPr>
              <a:t>Thank you</a:t>
            </a:r>
          </a:p>
        </p:txBody>
      </p:sp>
      <p:pic>
        <p:nvPicPr>
          <p:cNvPr id="22530" name="Picture 2" descr="End of Presentation ANY QUESTIONS? Meme Generator at MemeCreator.org! |  Business cat meme, Happy birthday meme, Business cat">
            <a:extLst>
              <a:ext uri="{FF2B5EF4-FFF2-40B4-BE49-F238E27FC236}">
                <a16:creationId xmlns:a16="http://schemas.microsoft.com/office/drawing/2014/main" id="{B1A24D1C-92D9-4812-C0E2-533A23D4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903" y="1790700"/>
            <a:ext cx="6299200" cy="629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668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723</Words>
  <Application>Microsoft Macintosh PowerPoint</Application>
  <PresentationFormat>Custom</PresentationFormat>
  <Paragraphs>191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Montaser Arabic Semi-Bold</vt:lpstr>
      <vt:lpstr>Arial</vt:lpstr>
      <vt:lpstr>Montaser Arabic Bold</vt:lpstr>
      <vt:lpstr>Lato</vt:lpstr>
      <vt:lpstr>Calibri</vt:lpstr>
      <vt:lpstr>Cabin Bold</vt:lpstr>
      <vt:lpstr>Montserrat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Pentagon_Slide</dc:title>
  <cp:lastModifiedBy>Nhat Nguyen Anh</cp:lastModifiedBy>
  <cp:revision>96</cp:revision>
  <dcterms:created xsi:type="dcterms:W3CDTF">2006-08-16T00:00:00Z</dcterms:created>
  <dcterms:modified xsi:type="dcterms:W3CDTF">2024-04-08T10:06:09Z</dcterms:modified>
  <dc:identifier>DAGAtKLq6Cs</dc:identifier>
</cp:coreProperties>
</file>